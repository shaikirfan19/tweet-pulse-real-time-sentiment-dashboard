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5" r:id="rId4"/>
  </p:sldMasterIdLst>
  <p:notesMasterIdLst>
    <p:notesMasterId r:id="rId18"/>
  </p:notesMasterIdLst>
  <p:handoutMasterIdLst>
    <p:handoutMasterId r:id="rId19"/>
  </p:handoutMasterIdLst>
  <p:sldIdLst>
    <p:sldId id="338" r:id="rId5"/>
    <p:sldId id="351" r:id="rId6"/>
    <p:sldId id="350" r:id="rId7"/>
    <p:sldId id="352" r:id="rId8"/>
    <p:sldId id="347" r:id="rId9"/>
    <p:sldId id="348" r:id="rId10"/>
    <p:sldId id="349" r:id="rId11"/>
    <p:sldId id="265" r:id="rId12"/>
    <p:sldId id="353" r:id="rId13"/>
    <p:sldId id="343" r:id="rId14"/>
    <p:sldId id="354" r:id="rId15"/>
    <p:sldId id="355" r:id="rId16"/>
    <p:sldId id="3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507"/>
  </p:normalViewPr>
  <p:slideViewPr>
    <p:cSldViewPr snapToGrid="0">
      <p:cViewPr varScale="1">
        <p:scale>
          <a:sx n="87" d="100"/>
          <a:sy n="87" d="100"/>
        </p:scale>
        <p:origin x="528" y="58"/>
      </p:cViewPr>
      <p:guideLst/>
    </p:cSldViewPr>
  </p:slideViewPr>
  <p:notesTextViewPr>
    <p:cViewPr>
      <p:scale>
        <a:sx n="1" d="1"/>
        <a:sy n="1" d="1"/>
      </p:scale>
      <p:origin x="0" y="0"/>
    </p:cViewPr>
  </p:notesTextViewPr>
  <p:notesViewPr>
    <p:cSldViewPr snapToGrid="0" showGuides="1">
      <p:cViewPr varScale="1">
        <p:scale>
          <a:sx n="60" d="100"/>
          <a:sy n="60" d="100"/>
        </p:scale>
        <p:origin x="2438"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F98948-3320-4B7F-80FB-AB1137B5078B}" type="doc">
      <dgm:prSet loTypeId="urn:microsoft.com/office/officeart/2008/layout/LinedList" loCatId="icon" qsTypeId="urn:microsoft.com/office/officeart/2005/8/quickstyle/simple1" qsCatId="simple" csTypeId="urn:microsoft.com/office/officeart/2005/8/colors/accent0_1" csCatId="mainScheme" phldr="1"/>
      <dgm:spPr/>
      <dgm:t>
        <a:bodyPr/>
        <a:lstStyle/>
        <a:p>
          <a:endParaRPr lang="en-US"/>
        </a:p>
      </dgm:t>
    </dgm:pt>
    <dgm:pt modelId="{15F858BE-12F3-4653-B340-0B188B98203C}">
      <dgm:prSet custT="1"/>
      <dgm:spPr/>
      <dgm:t>
        <a:bodyPr anchor="ctr"/>
        <a:lstStyle/>
        <a:p>
          <a:pPr algn="l"/>
          <a:r>
            <a:rPr lang="en-US" sz="1600" dirty="0" smtClean="0">
              <a:solidFill>
                <a:schemeClr val="bg1"/>
              </a:solidFill>
            </a:rPr>
            <a:t>Enables real-time public opinion tracking during events, campaigns, or crises.</a:t>
          </a:r>
          <a:endParaRPr lang="en-US" sz="1600" dirty="0">
            <a:solidFill>
              <a:schemeClr val="bg1"/>
            </a:solidFill>
          </a:endParaRPr>
        </a:p>
      </dgm:t>
    </dgm:pt>
    <dgm:pt modelId="{A18FFBF8-8B7D-40D4-A330-31FF915469FD}" type="parTrans" cxnId="{DEBC30EA-F307-450A-9FE0-DE38E709B7C6}">
      <dgm:prSet/>
      <dgm:spPr/>
      <dgm:t>
        <a:bodyPr/>
        <a:lstStyle/>
        <a:p>
          <a:pPr algn="l"/>
          <a:endParaRPr lang="en-US" sz="1600">
            <a:solidFill>
              <a:schemeClr val="bg1"/>
            </a:solidFill>
          </a:endParaRPr>
        </a:p>
      </dgm:t>
    </dgm:pt>
    <dgm:pt modelId="{BAF7F54C-54BB-4E32-A3BE-70FDDE1ACC7A}" type="sibTrans" cxnId="{DEBC30EA-F307-450A-9FE0-DE38E709B7C6}">
      <dgm:prSet/>
      <dgm:spPr/>
      <dgm:t>
        <a:bodyPr/>
        <a:lstStyle/>
        <a:p>
          <a:pPr algn="l"/>
          <a:endParaRPr lang="en-US" sz="1600">
            <a:solidFill>
              <a:schemeClr val="bg1"/>
            </a:solidFill>
          </a:endParaRPr>
        </a:p>
      </dgm:t>
    </dgm:pt>
    <dgm:pt modelId="{3CA3A262-78E2-46B9-86B9-EC5A18FB14DE}">
      <dgm:prSet custT="1"/>
      <dgm:spPr/>
      <dgm:t>
        <a:bodyPr anchor="ctr"/>
        <a:lstStyle/>
        <a:p>
          <a:pPr algn="l"/>
          <a:r>
            <a:rPr lang="en-US" sz="1600" dirty="0" smtClean="0">
              <a:solidFill>
                <a:schemeClr val="bg1"/>
              </a:solidFill>
            </a:rPr>
            <a:t>Offers a scalable and modular architecture for future enhancements (e.g., language support, geographic filtering).</a:t>
          </a:r>
          <a:endParaRPr lang="en-US" sz="1600" dirty="0">
            <a:solidFill>
              <a:schemeClr val="bg1"/>
            </a:solidFill>
          </a:endParaRPr>
        </a:p>
      </dgm:t>
    </dgm:pt>
    <dgm:pt modelId="{6BBE6B70-7535-4543-9D22-9A5FD3AA825E}" type="parTrans" cxnId="{DA22B488-0463-414F-B875-46191CF8188F}">
      <dgm:prSet/>
      <dgm:spPr/>
      <dgm:t>
        <a:bodyPr/>
        <a:lstStyle/>
        <a:p>
          <a:pPr algn="l"/>
          <a:endParaRPr lang="en-US" sz="1600">
            <a:solidFill>
              <a:schemeClr val="bg1"/>
            </a:solidFill>
          </a:endParaRPr>
        </a:p>
      </dgm:t>
    </dgm:pt>
    <dgm:pt modelId="{B3A5339B-3B69-46DF-810A-B2517955555D}" type="sibTrans" cxnId="{DA22B488-0463-414F-B875-46191CF8188F}">
      <dgm:prSet/>
      <dgm:spPr/>
      <dgm:t>
        <a:bodyPr/>
        <a:lstStyle/>
        <a:p>
          <a:pPr algn="l"/>
          <a:endParaRPr lang="en-US" sz="1600">
            <a:solidFill>
              <a:schemeClr val="bg1"/>
            </a:solidFill>
          </a:endParaRPr>
        </a:p>
      </dgm:t>
    </dgm:pt>
    <dgm:pt modelId="{6F9B6DAF-FB03-4DCC-98FA-08920A1923E8}">
      <dgm:prSet custT="1"/>
      <dgm:spPr/>
      <dgm:t>
        <a:bodyPr anchor="ctr"/>
        <a:lstStyle/>
        <a:p>
          <a:pPr algn="l"/>
          <a:r>
            <a:rPr lang="en-US" sz="1600" smtClean="0">
              <a:solidFill>
                <a:schemeClr val="bg1"/>
              </a:solidFill>
            </a:rPr>
            <a:t>
Provides actionable insights for businesses, journalists, and researchers.</a:t>
          </a:r>
          <a:endParaRPr lang="en-US" sz="1600" dirty="0">
            <a:solidFill>
              <a:schemeClr val="bg1"/>
            </a:solidFill>
          </a:endParaRPr>
        </a:p>
      </dgm:t>
    </dgm:pt>
    <dgm:pt modelId="{FF5E1386-8587-4FE9-9AD6-07AA0B7BD133}" type="parTrans" cxnId="{7410BB3F-D718-42E8-B3B8-FFDB081BF794}">
      <dgm:prSet/>
      <dgm:spPr/>
      <dgm:t>
        <a:bodyPr/>
        <a:lstStyle/>
        <a:p>
          <a:endParaRPr lang="en-US"/>
        </a:p>
      </dgm:t>
    </dgm:pt>
    <dgm:pt modelId="{B22B0773-3DBF-4C4D-91F4-ABAD674A16BB}" type="sibTrans" cxnId="{7410BB3F-D718-42E8-B3B8-FFDB081BF794}">
      <dgm:prSet/>
      <dgm:spPr/>
      <dgm:t>
        <a:bodyPr/>
        <a:lstStyle/>
        <a:p>
          <a:endParaRPr lang="en-US"/>
        </a:p>
      </dgm:t>
    </dgm:pt>
    <dgm:pt modelId="{D7AA8D21-169A-7847-AE19-449AF2A0AB87}" type="pres">
      <dgm:prSet presAssocID="{64F98948-3320-4B7F-80FB-AB1137B5078B}" presName="vert0" presStyleCnt="0">
        <dgm:presLayoutVars>
          <dgm:dir/>
          <dgm:animOne val="branch"/>
          <dgm:animLvl val="lvl"/>
        </dgm:presLayoutVars>
      </dgm:prSet>
      <dgm:spPr/>
      <dgm:t>
        <a:bodyPr/>
        <a:lstStyle/>
        <a:p>
          <a:endParaRPr lang="en-US"/>
        </a:p>
      </dgm:t>
    </dgm:pt>
    <dgm:pt modelId="{F9E147F5-92BE-3E41-87A0-D2DD515E3EFE}" type="pres">
      <dgm:prSet presAssocID="{15F858BE-12F3-4653-B340-0B188B98203C}" presName="thickLine" presStyleLbl="alignNode1" presStyleIdx="0" presStyleCnt="3"/>
      <dgm:spPr>
        <a:ln>
          <a:noFill/>
        </a:ln>
      </dgm:spPr>
    </dgm:pt>
    <dgm:pt modelId="{F177C780-64AE-5942-AD6F-16F6F72EB1FC}" type="pres">
      <dgm:prSet presAssocID="{15F858BE-12F3-4653-B340-0B188B98203C}" presName="horz1" presStyleCnt="0"/>
      <dgm:spPr/>
    </dgm:pt>
    <dgm:pt modelId="{7DAF90AF-7CE1-D044-AB67-E772D8B64C31}" type="pres">
      <dgm:prSet presAssocID="{15F858BE-12F3-4653-B340-0B188B98203C}" presName="tx1" presStyleLbl="revTx" presStyleIdx="0" presStyleCnt="3"/>
      <dgm:spPr/>
      <dgm:t>
        <a:bodyPr/>
        <a:lstStyle/>
        <a:p>
          <a:endParaRPr lang="en-US"/>
        </a:p>
      </dgm:t>
    </dgm:pt>
    <dgm:pt modelId="{BE716566-FA79-2C44-957F-53F15A03AB60}" type="pres">
      <dgm:prSet presAssocID="{15F858BE-12F3-4653-B340-0B188B98203C}" presName="vert1" presStyleCnt="0"/>
      <dgm:spPr/>
    </dgm:pt>
    <dgm:pt modelId="{E08289C8-1FE6-43DF-BD22-FFC25BCD2A8E}" type="pres">
      <dgm:prSet presAssocID="{6F9B6DAF-FB03-4DCC-98FA-08920A1923E8}" presName="thickLine" presStyleLbl="alignNode1" presStyleIdx="1" presStyleCnt="3"/>
      <dgm:spPr>
        <a:ln>
          <a:solidFill>
            <a:schemeClr val="bg1"/>
          </a:solidFill>
        </a:ln>
      </dgm:spPr>
      <dgm:t>
        <a:bodyPr/>
        <a:lstStyle/>
        <a:p>
          <a:endParaRPr lang="en-US"/>
        </a:p>
      </dgm:t>
    </dgm:pt>
    <dgm:pt modelId="{AC1F2B14-9753-4DA4-960D-2B88D422A7A7}" type="pres">
      <dgm:prSet presAssocID="{6F9B6DAF-FB03-4DCC-98FA-08920A1923E8}" presName="horz1" presStyleCnt="0"/>
      <dgm:spPr/>
    </dgm:pt>
    <dgm:pt modelId="{FBE64976-7771-40B6-8143-632170CFB336}" type="pres">
      <dgm:prSet presAssocID="{6F9B6DAF-FB03-4DCC-98FA-08920A1923E8}" presName="tx1" presStyleLbl="revTx" presStyleIdx="1" presStyleCnt="3"/>
      <dgm:spPr/>
      <dgm:t>
        <a:bodyPr/>
        <a:lstStyle/>
        <a:p>
          <a:endParaRPr lang="en-US"/>
        </a:p>
      </dgm:t>
    </dgm:pt>
    <dgm:pt modelId="{8045BBEC-99D2-4A5B-98BE-395810A67819}" type="pres">
      <dgm:prSet presAssocID="{6F9B6DAF-FB03-4DCC-98FA-08920A1923E8}" presName="vert1" presStyleCnt="0"/>
      <dgm:spPr/>
    </dgm:pt>
    <dgm:pt modelId="{453B5C1B-7479-A64C-A62F-F8FF11789102}" type="pres">
      <dgm:prSet presAssocID="{3CA3A262-78E2-46B9-86B9-EC5A18FB14DE}" presName="thickLine" presStyleLbl="alignNode1" presStyleIdx="2" presStyleCnt="3"/>
      <dgm:spPr>
        <a:ln>
          <a:solidFill>
            <a:schemeClr val="bg1"/>
          </a:solidFill>
        </a:ln>
      </dgm:spPr>
    </dgm:pt>
    <dgm:pt modelId="{89D2E576-A51A-EA46-935A-67D215DADAC5}" type="pres">
      <dgm:prSet presAssocID="{3CA3A262-78E2-46B9-86B9-EC5A18FB14DE}" presName="horz1" presStyleCnt="0"/>
      <dgm:spPr/>
    </dgm:pt>
    <dgm:pt modelId="{957815F8-9C36-1140-BDB3-0407376DDA24}" type="pres">
      <dgm:prSet presAssocID="{3CA3A262-78E2-46B9-86B9-EC5A18FB14DE}" presName="tx1" presStyleLbl="revTx" presStyleIdx="2" presStyleCnt="3"/>
      <dgm:spPr/>
      <dgm:t>
        <a:bodyPr/>
        <a:lstStyle/>
        <a:p>
          <a:endParaRPr lang="en-US"/>
        </a:p>
      </dgm:t>
    </dgm:pt>
    <dgm:pt modelId="{A6EC63B3-C51F-BD4C-AEDE-3C1BEC0C7833}" type="pres">
      <dgm:prSet presAssocID="{3CA3A262-78E2-46B9-86B9-EC5A18FB14DE}" presName="vert1" presStyleCnt="0"/>
      <dgm:spPr/>
    </dgm:pt>
  </dgm:ptLst>
  <dgm:cxnLst>
    <dgm:cxn modelId="{9B3D90DA-EE6F-4014-97C4-0CD375073625}" type="presOf" srcId="{6F9B6DAF-FB03-4DCC-98FA-08920A1923E8}" destId="{FBE64976-7771-40B6-8143-632170CFB336}" srcOrd="0" destOrd="0" presId="urn:microsoft.com/office/officeart/2008/layout/LinedList"/>
    <dgm:cxn modelId="{A2308A67-38BB-F043-9E6E-F57CB5E4B561}" type="presOf" srcId="{64F98948-3320-4B7F-80FB-AB1137B5078B}" destId="{D7AA8D21-169A-7847-AE19-449AF2A0AB87}" srcOrd="0" destOrd="0" presId="urn:microsoft.com/office/officeart/2008/layout/LinedList"/>
    <dgm:cxn modelId="{DA22B488-0463-414F-B875-46191CF8188F}" srcId="{64F98948-3320-4B7F-80FB-AB1137B5078B}" destId="{3CA3A262-78E2-46B9-86B9-EC5A18FB14DE}" srcOrd="2" destOrd="0" parTransId="{6BBE6B70-7535-4543-9D22-9A5FD3AA825E}" sibTransId="{B3A5339B-3B69-46DF-810A-B2517955555D}"/>
    <dgm:cxn modelId="{DEBC30EA-F307-450A-9FE0-DE38E709B7C6}" srcId="{64F98948-3320-4B7F-80FB-AB1137B5078B}" destId="{15F858BE-12F3-4653-B340-0B188B98203C}" srcOrd="0" destOrd="0" parTransId="{A18FFBF8-8B7D-40D4-A330-31FF915469FD}" sibTransId="{BAF7F54C-54BB-4E32-A3BE-70FDDE1ACC7A}"/>
    <dgm:cxn modelId="{B72B51E5-32C4-3648-ADD5-2B80FE381DE5}" type="presOf" srcId="{15F858BE-12F3-4653-B340-0B188B98203C}" destId="{7DAF90AF-7CE1-D044-AB67-E772D8B64C31}" srcOrd="0" destOrd="0" presId="urn:microsoft.com/office/officeart/2008/layout/LinedList"/>
    <dgm:cxn modelId="{7410BB3F-D718-42E8-B3B8-FFDB081BF794}" srcId="{64F98948-3320-4B7F-80FB-AB1137B5078B}" destId="{6F9B6DAF-FB03-4DCC-98FA-08920A1923E8}" srcOrd="1" destOrd="0" parTransId="{FF5E1386-8587-4FE9-9AD6-07AA0B7BD133}" sibTransId="{B22B0773-3DBF-4C4D-91F4-ABAD674A16BB}"/>
    <dgm:cxn modelId="{CB779D4E-8EEB-A849-B2AF-50AAE1FB511B}" type="presOf" srcId="{3CA3A262-78E2-46B9-86B9-EC5A18FB14DE}" destId="{957815F8-9C36-1140-BDB3-0407376DDA24}" srcOrd="0" destOrd="0" presId="urn:microsoft.com/office/officeart/2008/layout/LinedList"/>
    <dgm:cxn modelId="{02EB7A7A-8DEE-E045-B8AF-A4CCD3A2734E}" type="presParOf" srcId="{D7AA8D21-169A-7847-AE19-449AF2A0AB87}" destId="{F9E147F5-92BE-3E41-87A0-D2DD515E3EFE}" srcOrd="0" destOrd="0" presId="urn:microsoft.com/office/officeart/2008/layout/LinedList"/>
    <dgm:cxn modelId="{122131D9-A3D0-D74B-B638-18DE07FF143D}" type="presParOf" srcId="{D7AA8D21-169A-7847-AE19-449AF2A0AB87}" destId="{F177C780-64AE-5942-AD6F-16F6F72EB1FC}" srcOrd="1" destOrd="0" presId="urn:microsoft.com/office/officeart/2008/layout/LinedList"/>
    <dgm:cxn modelId="{EDD7763F-C748-A045-94A5-CA8723A57E93}" type="presParOf" srcId="{F177C780-64AE-5942-AD6F-16F6F72EB1FC}" destId="{7DAF90AF-7CE1-D044-AB67-E772D8B64C31}" srcOrd="0" destOrd="0" presId="urn:microsoft.com/office/officeart/2008/layout/LinedList"/>
    <dgm:cxn modelId="{AA643B8F-1448-0344-A49A-62C2577267C4}" type="presParOf" srcId="{F177C780-64AE-5942-AD6F-16F6F72EB1FC}" destId="{BE716566-FA79-2C44-957F-53F15A03AB60}" srcOrd="1" destOrd="0" presId="urn:microsoft.com/office/officeart/2008/layout/LinedList"/>
    <dgm:cxn modelId="{86E2E96C-EE33-43F8-866A-47459AE0F277}" type="presParOf" srcId="{D7AA8D21-169A-7847-AE19-449AF2A0AB87}" destId="{E08289C8-1FE6-43DF-BD22-FFC25BCD2A8E}" srcOrd="2" destOrd="0" presId="urn:microsoft.com/office/officeart/2008/layout/LinedList"/>
    <dgm:cxn modelId="{884D9DAC-4EAE-45FF-BC20-6E4E50E49583}" type="presParOf" srcId="{D7AA8D21-169A-7847-AE19-449AF2A0AB87}" destId="{AC1F2B14-9753-4DA4-960D-2B88D422A7A7}" srcOrd="3" destOrd="0" presId="urn:microsoft.com/office/officeart/2008/layout/LinedList"/>
    <dgm:cxn modelId="{4A7A8DF8-3089-4387-B3C1-E8EC886550C5}" type="presParOf" srcId="{AC1F2B14-9753-4DA4-960D-2B88D422A7A7}" destId="{FBE64976-7771-40B6-8143-632170CFB336}" srcOrd="0" destOrd="0" presId="urn:microsoft.com/office/officeart/2008/layout/LinedList"/>
    <dgm:cxn modelId="{CB4E1BFB-25F1-4A66-95E2-2B5D0F4D7C53}" type="presParOf" srcId="{AC1F2B14-9753-4DA4-960D-2B88D422A7A7}" destId="{8045BBEC-99D2-4A5B-98BE-395810A67819}" srcOrd="1" destOrd="0" presId="urn:microsoft.com/office/officeart/2008/layout/LinedList"/>
    <dgm:cxn modelId="{E3E659C5-43C7-5140-AFE4-78104922EEE4}" type="presParOf" srcId="{D7AA8D21-169A-7847-AE19-449AF2A0AB87}" destId="{453B5C1B-7479-A64C-A62F-F8FF11789102}" srcOrd="4" destOrd="0" presId="urn:microsoft.com/office/officeart/2008/layout/LinedList"/>
    <dgm:cxn modelId="{A027A662-9EAE-DD44-BD05-1DCA0CC5485C}" type="presParOf" srcId="{D7AA8D21-169A-7847-AE19-449AF2A0AB87}" destId="{89D2E576-A51A-EA46-935A-67D215DADAC5}" srcOrd="5" destOrd="0" presId="urn:microsoft.com/office/officeart/2008/layout/LinedList"/>
    <dgm:cxn modelId="{CE592214-9472-B14D-9131-79B4E0A85531}" type="presParOf" srcId="{89D2E576-A51A-EA46-935A-67D215DADAC5}" destId="{957815F8-9C36-1140-BDB3-0407376DDA24}" srcOrd="0" destOrd="0" presId="urn:microsoft.com/office/officeart/2008/layout/LinedList"/>
    <dgm:cxn modelId="{1416C33F-FB31-7242-BEDD-21BE16F290ED}" type="presParOf" srcId="{89D2E576-A51A-EA46-935A-67D215DADAC5}" destId="{A6EC63B3-C51F-BD4C-AEDE-3C1BEC0C783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E147F5-92BE-3E41-87A0-D2DD515E3EFE}">
      <dsp:nvSpPr>
        <dsp:cNvPr id="0" name=""/>
        <dsp:cNvSpPr/>
      </dsp:nvSpPr>
      <dsp:spPr>
        <a:xfrm>
          <a:off x="0" y="2564"/>
          <a:ext cx="5341938" cy="0"/>
        </a:xfrm>
        <a:prstGeom prst="line">
          <a:avLst/>
        </a:prstGeom>
        <a:solidFill>
          <a:schemeClr val="lt1">
            <a:hueOff val="0"/>
            <a:satOff val="0"/>
            <a:lumOff val="0"/>
            <a:alphaOff val="0"/>
          </a:schemeClr>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AF90AF-7CE1-D044-AB67-E772D8B64C31}">
      <dsp:nvSpPr>
        <dsp:cNvPr id="0" name=""/>
        <dsp:cNvSpPr/>
      </dsp:nvSpPr>
      <dsp:spPr>
        <a:xfrm>
          <a:off x="0" y="2564"/>
          <a:ext cx="5341938" cy="1748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solidFill>
                <a:schemeClr val="bg1"/>
              </a:solidFill>
            </a:rPr>
            <a:t>Enables real-time public opinion tracking during events, campaigns, or crises.</a:t>
          </a:r>
          <a:endParaRPr lang="en-US" sz="1600" kern="1200" dirty="0">
            <a:solidFill>
              <a:schemeClr val="bg1"/>
            </a:solidFill>
          </a:endParaRPr>
        </a:p>
      </dsp:txBody>
      <dsp:txXfrm>
        <a:off x="0" y="2564"/>
        <a:ext cx="5341938" cy="1748773"/>
      </dsp:txXfrm>
    </dsp:sp>
    <dsp:sp modelId="{E08289C8-1FE6-43DF-BD22-FFC25BCD2A8E}">
      <dsp:nvSpPr>
        <dsp:cNvPr id="0" name=""/>
        <dsp:cNvSpPr/>
      </dsp:nvSpPr>
      <dsp:spPr>
        <a:xfrm>
          <a:off x="0" y="1751338"/>
          <a:ext cx="5341938" cy="0"/>
        </a:xfrm>
        <a:prstGeom prst="line">
          <a:avLst/>
        </a:prstGeom>
        <a:solidFill>
          <a:schemeClr val="lt1">
            <a:hueOff val="0"/>
            <a:satOff val="0"/>
            <a:lumOff val="0"/>
            <a:alphaOff val="0"/>
          </a:schemeClr>
        </a:solidFill>
        <a:ln w="22225" cap="rnd"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sp>
    <dsp:sp modelId="{FBE64976-7771-40B6-8143-632170CFB336}">
      <dsp:nvSpPr>
        <dsp:cNvPr id="0" name=""/>
        <dsp:cNvSpPr/>
      </dsp:nvSpPr>
      <dsp:spPr>
        <a:xfrm>
          <a:off x="0" y="1751338"/>
          <a:ext cx="5341938" cy="1748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smtClean="0">
              <a:solidFill>
                <a:schemeClr val="bg1"/>
              </a:solidFill>
            </a:rPr>
            <a:t>
Provides actionable insights for businesses, journalists, and researchers.</a:t>
          </a:r>
          <a:endParaRPr lang="en-US" sz="1600" kern="1200" dirty="0">
            <a:solidFill>
              <a:schemeClr val="bg1"/>
            </a:solidFill>
          </a:endParaRPr>
        </a:p>
      </dsp:txBody>
      <dsp:txXfrm>
        <a:off x="0" y="1751338"/>
        <a:ext cx="5341938" cy="1748773"/>
      </dsp:txXfrm>
    </dsp:sp>
    <dsp:sp modelId="{453B5C1B-7479-A64C-A62F-F8FF11789102}">
      <dsp:nvSpPr>
        <dsp:cNvPr id="0" name=""/>
        <dsp:cNvSpPr/>
      </dsp:nvSpPr>
      <dsp:spPr>
        <a:xfrm>
          <a:off x="0" y="3500111"/>
          <a:ext cx="5341938" cy="0"/>
        </a:xfrm>
        <a:prstGeom prst="line">
          <a:avLst/>
        </a:prstGeom>
        <a:solidFill>
          <a:schemeClr val="lt1">
            <a:hueOff val="0"/>
            <a:satOff val="0"/>
            <a:lumOff val="0"/>
            <a:alphaOff val="0"/>
          </a:schemeClr>
        </a:solidFill>
        <a:ln w="22225" cap="rnd"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sp>
    <dsp:sp modelId="{957815F8-9C36-1140-BDB3-0407376DDA24}">
      <dsp:nvSpPr>
        <dsp:cNvPr id="0" name=""/>
        <dsp:cNvSpPr/>
      </dsp:nvSpPr>
      <dsp:spPr>
        <a:xfrm>
          <a:off x="0" y="3500111"/>
          <a:ext cx="5341938" cy="1748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kern="1200" dirty="0" smtClean="0">
              <a:solidFill>
                <a:schemeClr val="bg1"/>
              </a:solidFill>
            </a:rPr>
            <a:t>Offers a scalable and modular architecture for future enhancements (e.g., language support, geographic filtering).</a:t>
          </a:r>
          <a:endParaRPr lang="en-US" sz="1600" kern="1200" dirty="0">
            <a:solidFill>
              <a:schemeClr val="bg1"/>
            </a:solidFill>
          </a:endParaRPr>
        </a:p>
      </dsp:txBody>
      <dsp:txXfrm>
        <a:off x="0" y="3500111"/>
        <a:ext cx="5341938" cy="174877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08916B-8145-4DD4-A4F0-4944307B25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8868C6-14E0-456B-8627-6ED3D5EA25F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37BDEB-D08A-4BCC-82C3-65677B6346BB}" type="datetimeFigureOut">
              <a:rPr lang="en-US" smtClean="0"/>
              <a:t>7/9/2025</a:t>
            </a:fld>
            <a:endParaRPr lang="en-US"/>
          </a:p>
        </p:txBody>
      </p:sp>
      <p:sp>
        <p:nvSpPr>
          <p:cNvPr id="4" name="Footer Placeholder 3">
            <a:extLst>
              <a:ext uri="{FF2B5EF4-FFF2-40B4-BE49-F238E27FC236}">
                <a16:creationId xmlns:a16="http://schemas.microsoft.com/office/drawing/2014/main" id="{420B6480-DE26-42CA-B861-D6EFA45FC7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1DDB9B3-0030-40C0-AFA9-FACA7EA513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F12C2-4DB0-4437-81E7-A0C89F24ADC0}" type="slidenum">
              <a:rPr lang="en-US" smtClean="0"/>
              <a:t>‹#›</a:t>
            </a:fld>
            <a:endParaRPr lang="en-US"/>
          </a:p>
        </p:txBody>
      </p:sp>
    </p:spTree>
    <p:extLst>
      <p:ext uri="{BB962C8B-B14F-4D97-AF65-F5344CB8AC3E}">
        <p14:creationId xmlns:p14="http://schemas.microsoft.com/office/powerpoint/2010/main" val="3515292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182BB-4E27-4552-8EE4-33C8EF731305}" type="datetimeFigureOut">
              <a:rPr lang="en-US" smtClean="0"/>
              <a:t>7/9/2025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8442E7-1E35-4707-8504-AE37222ED57D}" type="slidenum">
              <a:rPr lang="en-US" smtClean="0"/>
              <a:t>‹#›</a:t>
            </a:fld>
            <a:endParaRPr lang="en-US"/>
          </a:p>
        </p:txBody>
      </p:sp>
    </p:spTree>
    <p:extLst>
      <p:ext uri="{BB962C8B-B14F-4D97-AF65-F5344CB8AC3E}">
        <p14:creationId xmlns:p14="http://schemas.microsoft.com/office/powerpoint/2010/main" val="2471682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581190" y="3085764"/>
            <a:ext cx="10993550" cy="333814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Rectangle 1">
            <a:extLst>
              <a:ext uri="{FF2B5EF4-FFF2-40B4-BE49-F238E27FC236}">
                <a16:creationId xmlns:a16="http://schemas.microsoft.com/office/drawing/2014/main" id="{5688E5B1-4139-AD48-BA45-9CE6A55A1ED0}"/>
              </a:ext>
            </a:extLst>
          </p:cNvPr>
          <p:cNvSpPr/>
          <p:nvPr userDrawn="1"/>
        </p:nvSpPr>
        <p:spPr>
          <a:xfrm>
            <a:off x="109259" y="456433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4208041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3" name="Content Placeholder 2"/>
          <p:cNvSpPr>
            <a:spLocks noGrp="1"/>
          </p:cNvSpPr>
          <p:nvPr>
            <p:ph idx="1"/>
          </p:nvPr>
        </p:nvSpPr>
        <p:spPr>
          <a:xfrm>
            <a:off x="581192" y="1890876"/>
            <a:ext cx="11029615" cy="40844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3" name="Rectangle 1">
            <a:extLst>
              <a:ext uri="{FF2B5EF4-FFF2-40B4-BE49-F238E27FC236}">
                <a16:creationId xmlns:a16="http://schemas.microsoft.com/office/drawing/2014/main" id="{C8660979-B6F8-480C-AAC7-48903CC3ECFC}"/>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296164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390CC524-3900-1041-BDBF-D0ABD37D8E8B}"/>
              </a:ext>
            </a:extLst>
          </p:cNvPr>
          <p:cNvSpPr>
            <a:spLocks noGrp="1"/>
          </p:cNvSpPr>
          <p:nvPr>
            <p:ph type="pic" sz="quarter" idx="13"/>
          </p:nvPr>
        </p:nvSpPr>
        <p:spPr>
          <a:xfrm>
            <a:off x="0" y="0"/>
            <a:ext cx="5524500" cy="6858000"/>
          </a:xfrm>
          <a:custGeom>
            <a:avLst/>
            <a:gdLst>
              <a:gd name="connsiteX0" fmla="*/ 0 w 5524500"/>
              <a:gd name="connsiteY0" fmla="*/ 0 h 6858000"/>
              <a:gd name="connsiteX1" fmla="*/ 5524500 w 5524500"/>
              <a:gd name="connsiteY1" fmla="*/ 0 h 6858000"/>
              <a:gd name="connsiteX2" fmla="*/ 5524500 w 5524500"/>
              <a:gd name="connsiteY2" fmla="*/ 806538 h 6858000"/>
              <a:gd name="connsiteX3" fmla="*/ 4952408 w 5524500"/>
              <a:gd name="connsiteY3" fmla="*/ 806538 h 6858000"/>
              <a:gd name="connsiteX4" fmla="*/ 4952408 w 5524500"/>
              <a:gd name="connsiteY4" fmla="*/ 1187539 h 6858000"/>
              <a:gd name="connsiteX5" fmla="*/ 5524500 w 5524500"/>
              <a:gd name="connsiteY5" fmla="*/ 1187539 h 6858000"/>
              <a:gd name="connsiteX6" fmla="*/ 5524500 w 5524500"/>
              <a:gd name="connsiteY6" fmla="*/ 6858000 h 6858000"/>
              <a:gd name="connsiteX7" fmla="*/ 0 w 55245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0" h="6858000">
                <a:moveTo>
                  <a:pt x="0" y="0"/>
                </a:moveTo>
                <a:lnTo>
                  <a:pt x="5524500" y="0"/>
                </a:lnTo>
                <a:lnTo>
                  <a:pt x="5524500" y="806538"/>
                </a:lnTo>
                <a:lnTo>
                  <a:pt x="4952408" y="806538"/>
                </a:lnTo>
                <a:lnTo>
                  <a:pt x="4952408" y="1187539"/>
                </a:lnTo>
                <a:lnTo>
                  <a:pt x="5524500" y="1187539"/>
                </a:lnTo>
                <a:lnTo>
                  <a:pt x="5524500" y="6858000"/>
                </a:lnTo>
                <a:lnTo>
                  <a:pt x="0" y="6858000"/>
                </a:lnTo>
                <a:close/>
              </a:path>
            </a:pathLst>
          </a:custGeom>
          <a:solidFill>
            <a:schemeClr val="tx2"/>
          </a:solidFill>
        </p:spPr>
        <p:txBody>
          <a:bodyPr wrap="square">
            <a:noAutofit/>
          </a:bodyPr>
          <a:lstStyle>
            <a:lvl1pPr marL="0" indent="0" algn="ctr">
              <a:buNone/>
              <a:defRPr>
                <a:solidFill>
                  <a:schemeClr val="bg1"/>
                </a:solidFill>
              </a:defRPr>
            </a:lvl1pPr>
          </a:lstStyle>
          <a:p>
            <a:r>
              <a:rPr lang="en-US" smtClean="0"/>
              <a:t>Click icon to add picture</a:t>
            </a:r>
            <a:endParaRPr lang="en-US" dirty="0"/>
          </a:p>
        </p:txBody>
      </p:sp>
      <p:sp>
        <p:nvSpPr>
          <p:cNvPr id="3" name="Content Placeholder 2"/>
          <p:cNvSpPr>
            <a:spLocks noGrp="1"/>
          </p:cNvSpPr>
          <p:nvPr>
            <p:ph idx="1"/>
          </p:nvPr>
        </p:nvSpPr>
        <p:spPr>
          <a:xfrm>
            <a:off x="6223592" y="1890876"/>
            <a:ext cx="5387215" cy="408447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itle 1">
            <a:extLst>
              <a:ext uri="{FF2B5EF4-FFF2-40B4-BE49-F238E27FC236}">
                <a16:creationId xmlns:a16="http://schemas.microsoft.com/office/drawing/2014/main" id="{1D49B377-6CF8-9E4B-8973-3F8057D7DF48}"/>
              </a:ext>
            </a:extLst>
          </p:cNvPr>
          <p:cNvSpPr>
            <a:spLocks noGrp="1"/>
          </p:cNvSpPr>
          <p:nvPr>
            <p:ph type="title" hasCustomPrompt="1"/>
          </p:nvPr>
        </p:nvSpPr>
        <p:spPr>
          <a:xfrm>
            <a:off x="6223592" y="702156"/>
            <a:ext cx="5387215" cy="740156"/>
          </a:xfrm>
        </p:spPr>
        <p:txBody>
          <a:bodyPr anchor="t">
            <a:normAutofit/>
          </a:bodyPr>
          <a:lstStyle>
            <a:lvl1pPr>
              <a:defRPr sz="3400"/>
            </a:lvl1pPr>
          </a:lstStyle>
          <a:p>
            <a:r>
              <a:rPr lang="en-US" dirty="0"/>
              <a:t>TITLE GOES HERE</a:t>
            </a:r>
          </a:p>
        </p:txBody>
      </p:sp>
      <p:sp>
        <p:nvSpPr>
          <p:cNvPr id="19" name="Rectangle 1">
            <a:extLst>
              <a:ext uri="{FF2B5EF4-FFF2-40B4-BE49-F238E27FC236}">
                <a16:creationId xmlns:a16="http://schemas.microsoft.com/office/drawing/2014/main" id="{E11F091D-EBC7-D743-82DA-0E177FD421D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911834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581191" y="5141974"/>
            <a:ext cx="11029615" cy="125882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
        <p:nvSpPr>
          <p:cNvPr id="11" name="Rectangle 1">
            <a:extLst>
              <a:ext uri="{FF2B5EF4-FFF2-40B4-BE49-F238E27FC236}">
                <a16:creationId xmlns:a16="http://schemas.microsoft.com/office/drawing/2014/main" id="{5DC1E635-F6E7-F248-9B85-120581E81180}"/>
              </a:ext>
            </a:extLst>
          </p:cNvPr>
          <p:cNvSpPr/>
          <p:nvPr userDrawn="1"/>
        </p:nvSpPr>
        <p:spPr>
          <a:xfrm>
            <a:off x="109259" y="555202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6614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1956391"/>
            <a:ext cx="3863216" cy="4467523"/>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93599" y="1956391"/>
            <a:ext cx="6917210" cy="446752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8" name="Title 1">
            <a:extLst>
              <a:ext uri="{FF2B5EF4-FFF2-40B4-BE49-F238E27FC236}">
                <a16:creationId xmlns:a16="http://schemas.microsoft.com/office/drawing/2014/main" id="{4C75DA6C-B626-714A-8BBC-6FDDB6BE4083}"/>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9" name="Rectangle 1">
            <a:extLst>
              <a:ext uri="{FF2B5EF4-FFF2-40B4-BE49-F238E27FC236}">
                <a16:creationId xmlns:a16="http://schemas.microsoft.com/office/drawing/2014/main" id="{72B4D55A-70C8-E04B-B7E3-3355A1131891}"/>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23016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81192" y="2847885"/>
            <a:ext cx="4757482" cy="557784"/>
          </a:xfrm>
        </p:spPr>
        <p:txBody>
          <a:bodyPr anchor="ctr">
            <a:noAutofit/>
          </a:bodyPr>
          <a:lstStyle>
            <a:lvl1pPr marL="0" indent="0" algn="ctr">
              <a:buNone/>
              <a:defRPr sz="28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Title goes here</a:t>
            </a:r>
          </a:p>
        </p:txBody>
      </p:sp>
      <p:sp>
        <p:nvSpPr>
          <p:cNvPr id="4" name="Content Placeholder 3"/>
          <p:cNvSpPr>
            <a:spLocks noGrp="1"/>
          </p:cNvSpPr>
          <p:nvPr>
            <p:ph sz="half" idx="2"/>
          </p:nvPr>
        </p:nvSpPr>
        <p:spPr>
          <a:xfrm>
            <a:off x="581194" y="3523046"/>
            <a:ext cx="4757479" cy="2131499"/>
          </a:xfrm>
        </p:spPr>
        <p:txBody>
          <a:bodyPr anchor="t">
            <a:normAutofit/>
          </a:bodyPr>
          <a:lstStyle>
            <a:lvl1pPr algn="ctr">
              <a:defRPr/>
            </a:lvl1pPr>
            <a:lvl2pPr algn="ctr">
              <a:defRPr/>
            </a:lvl2pPr>
            <a:lvl3pPr algn="ctr">
              <a:defRPr/>
            </a:lvl3pPr>
            <a:lvl4pPr algn="ctr">
              <a:defRPr/>
            </a:lvl4pPr>
            <a:lvl5pPr algn="ct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6604002" y="2847886"/>
            <a:ext cx="4757483" cy="553373"/>
          </a:xfrm>
        </p:spPr>
        <p:txBody>
          <a:bodyPr anchor="ctr">
            <a:noAutofit/>
          </a:bodyPr>
          <a:lstStyle>
            <a:lvl1pPr marL="0" marR="0" indent="0" algn="ctr"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8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Title goes here</a:t>
            </a:r>
          </a:p>
        </p:txBody>
      </p:sp>
      <p:sp>
        <p:nvSpPr>
          <p:cNvPr id="6" name="Content Placeholder 5"/>
          <p:cNvSpPr>
            <a:spLocks noGrp="1"/>
          </p:cNvSpPr>
          <p:nvPr>
            <p:ph sz="quarter" idx="4"/>
          </p:nvPr>
        </p:nvSpPr>
        <p:spPr>
          <a:xfrm>
            <a:off x="6604001" y="3523046"/>
            <a:ext cx="4757484" cy="2131499"/>
          </a:xfrm>
        </p:spPr>
        <p:txBody>
          <a:bodyPr anchor="t">
            <a:normAutofit/>
          </a:bodyPr>
          <a:lstStyle>
            <a:lvl1pPr algn="ctr">
              <a:defRPr/>
            </a:lvl1pPr>
            <a:lvl2pPr algn="ctr">
              <a:defRPr/>
            </a:lvl2pPr>
            <a:lvl3pPr algn="ctr">
              <a:defRPr/>
            </a:lvl3pPr>
            <a:lvl4pPr algn="ctr">
              <a:defRPr/>
            </a:lvl4pPr>
            <a:lvl5pPr algn="ct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
        <p:nvSpPr>
          <p:cNvPr id="10" name="Title 1">
            <a:extLst>
              <a:ext uri="{FF2B5EF4-FFF2-40B4-BE49-F238E27FC236}">
                <a16:creationId xmlns:a16="http://schemas.microsoft.com/office/drawing/2014/main" id="{73CA278B-C101-7F4E-B11A-7B91B0C8E60A}"/>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11" name="Rectangle 1">
            <a:extLst>
              <a:ext uri="{FF2B5EF4-FFF2-40B4-BE49-F238E27FC236}">
                <a16:creationId xmlns:a16="http://schemas.microsoft.com/office/drawing/2014/main" id="{FE5F6035-AACE-6847-8AF4-EB3C4D79EE95}"/>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grpSp>
        <p:nvGrpSpPr>
          <p:cNvPr id="13" name="Group 12">
            <a:extLst>
              <a:ext uri="{FF2B5EF4-FFF2-40B4-BE49-F238E27FC236}">
                <a16:creationId xmlns:a16="http://schemas.microsoft.com/office/drawing/2014/main" id="{7D914FC0-3771-6041-9E7C-1C624C85A803}"/>
              </a:ext>
            </a:extLst>
          </p:cNvPr>
          <p:cNvGrpSpPr/>
          <p:nvPr userDrawn="1"/>
        </p:nvGrpSpPr>
        <p:grpSpPr>
          <a:xfrm>
            <a:off x="5463336" y="2250891"/>
            <a:ext cx="1016001" cy="3839220"/>
            <a:chOff x="5510085" y="2250891"/>
            <a:chExt cx="1016001" cy="3839220"/>
          </a:xfrm>
        </p:grpSpPr>
        <p:cxnSp>
          <p:nvCxnSpPr>
            <p:cNvPr id="14" name="Straight Connector 13">
              <a:extLst>
                <a:ext uri="{FF2B5EF4-FFF2-40B4-BE49-F238E27FC236}">
                  <a16:creationId xmlns:a16="http://schemas.microsoft.com/office/drawing/2014/main" id="{0AED3128-974C-7F4B-BF36-A3836D1725F6}"/>
                </a:ext>
              </a:extLst>
            </p:cNvPr>
            <p:cNvCxnSpPr/>
            <p:nvPr/>
          </p:nvCxnSpPr>
          <p:spPr>
            <a:xfrm>
              <a:off x="6018085" y="2340176"/>
              <a:ext cx="0" cy="37499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
              <a:extLst>
                <a:ext uri="{FF2B5EF4-FFF2-40B4-BE49-F238E27FC236}">
                  <a16:creationId xmlns:a16="http://schemas.microsoft.com/office/drawing/2014/main" id="{2D2224CB-5DFF-3D4B-816B-1A44228A23EE}"/>
                </a:ext>
              </a:extLst>
            </p:cNvPr>
            <p:cNvSpPr/>
            <p:nvPr/>
          </p:nvSpPr>
          <p:spPr>
            <a:xfrm>
              <a:off x="5510085" y="2250891"/>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r>
                <a:rPr lang="en-US" sz="1600" kern="0" noProof="0">
                  <a:solidFill>
                    <a:srgbClr val="FFFFFF"/>
                  </a:solidFill>
                  <a:latin typeface="Helvetica Light"/>
                  <a:sym typeface="Helvetica Light"/>
                </a:rPr>
                <a:t>VS</a:t>
              </a:r>
            </a:p>
          </p:txBody>
        </p:sp>
      </p:grpSp>
    </p:spTree>
    <p:extLst>
      <p:ext uri="{BB962C8B-B14F-4D97-AF65-F5344CB8AC3E}">
        <p14:creationId xmlns:p14="http://schemas.microsoft.com/office/powerpoint/2010/main" val="330825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B4ED54-5B5E-4A04-93D3-5772E3CE3818}" type="datetime1">
              <a:rPr lang="en-US" smtClean="0"/>
              <a:t>7/9/2025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
        <p:nvSpPr>
          <p:cNvPr id="6" name="Title 1">
            <a:extLst>
              <a:ext uri="{FF2B5EF4-FFF2-40B4-BE49-F238E27FC236}">
                <a16:creationId xmlns:a16="http://schemas.microsoft.com/office/drawing/2014/main" id="{E2F4516B-8A37-894B-82AE-60204E6767D9}"/>
              </a:ext>
            </a:extLst>
          </p:cNvPr>
          <p:cNvSpPr>
            <a:spLocks noGrp="1"/>
          </p:cNvSpPr>
          <p:nvPr>
            <p:ph type="title"/>
          </p:nvPr>
        </p:nvSpPr>
        <p:spPr>
          <a:xfrm>
            <a:off x="581192" y="702156"/>
            <a:ext cx="11029616" cy="740156"/>
          </a:xfrm>
        </p:spPr>
        <p:txBody>
          <a:bodyPr anchor="t">
            <a:normAutofit/>
          </a:bodyPr>
          <a:lstStyle>
            <a:lvl1pPr>
              <a:defRPr sz="3400"/>
            </a:lvl1pPr>
          </a:lstStyle>
          <a:p>
            <a:r>
              <a:rPr lang="en-US" smtClean="0"/>
              <a:t>Click to edit Master title style</a:t>
            </a:r>
            <a:endParaRPr lang="en-US" dirty="0"/>
          </a:p>
        </p:txBody>
      </p:sp>
      <p:sp>
        <p:nvSpPr>
          <p:cNvPr id="7" name="Rectangle 1">
            <a:extLst>
              <a:ext uri="{FF2B5EF4-FFF2-40B4-BE49-F238E27FC236}">
                <a16:creationId xmlns:a16="http://schemas.microsoft.com/office/drawing/2014/main" id="{CC16CE43-CB3C-7544-B05B-0A9F706D6FD8}"/>
              </a:ext>
            </a:extLst>
          </p:cNvPr>
          <p:cNvSpPr/>
          <p:nvPr userDrawn="1"/>
        </p:nvSpPr>
        <p:spPr>
          <a:xfrm>
            <a:off x="0" y="806538"/>
            <a:ext cx="453601" cy="363044"/>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Tree>
    <p:extLst>
      <p:ext uri="{BB962C8B-B14F-4D97-AF65-F5344CB8AC3E}">
        <p14:creationId xmlns:p14="http://schemas.microsoft.com/office/powerpoint/2010/main" val="39701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0145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ntent Large Imag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EEDEA7C-D9D3-5E4A-A0E6-B7A0ED5E0F89}"/>
              </a:ext>
            </a:extLst>
          </p:cNvPr>
          <p:cNvSpPr>
            <a:spLocks noGrp="1"/>
          </p:cNvSpPr>
          <p:nvPr>
            <p:ph type="pic" sz="quarter" idx="13"/>
          </p:nvPr>
        </p:nvSpPr>
        <p:spPr>
          <a:xfrm>
            <a:off x="5181599" y="0"/>
            <a:ext cx="7010400" cy="6858000"/>
          </a:xfrm>
          <a:custGeom>
            <a:avLst/>
            <a:gdLst>
              <a:gd name="connsiteX0" fmla="*/ 0 w 7010400"/>
              <a:gd name="connsiteY0" fmla="*/ 0 h 6858000"/>
              <a:gd name="connsiteX1" fmla="*/ 7010400 w 7010400"/>
              <a:gd name="connsiteY1" fmla="*/ 0 h 6858000"/>
              <a:gd name="connsiteX2" fmla="*/ 7010400 w 7010400"/>
              <a:gd name="connsiteY2" fmla="*/ 6858000 h 6858000"/>
              <a:gd name="connsiteX3" fmla="*/ 0 w 7010400"/>
              <a:gd name="connsiteY3" fmla="*/ 6858000 h 6858000"/>
              <a:gd name="connsiteX4" fmla="*/ 0 w 7010400"/>
              <a:gd name="connsiteY4" fmla="*/ 2620396 h 6858000"/>
              <a:gd name="connsiteX5" fmla="*/ 508001 w 7010400"/>
              <a:gd name="connsiteY5" fmla="*/ 2620396 h 6858000"/>
              <a:gd name="connsiteX6" fmla="*/ 508001 w 7010400"/>
              <a:gd name="connsiteY6" fmla="*/ 2239395 h 6858000"/>
              <a:gd name="connsiteX7" fmla="*/ 0 w 7010400"/>
              <a:gd name="connsiteY7" fmla="*/ 22393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0400" h="6858000">
                <a:moveTo>
                  <a:pt x="0" y="0"/>
                </a:moveTo>
                <a:lnTo>
                  <a:pt x="7010400" y="0"/>
                </a:lnTo>
                <a:lnTo>
                  <a:pt x="7010400" y="6858000"/>
                </a:lnTo>
                <a:lnTo>
                  <a:pt x="0" y="6858000"/>
                </a:lnTo>
                <a:lnTo>
                  <a:pt x="0" y="2620396"/>
                </a:lnTo>
                <a:lnTo>
                  <a:pt x="508001" y="2620396"/>
                </a:lnTo>
                <a:lnTo>
                  <a:pt x="508001" y="2239395"/>
                </a:lnTo>
                <a:lnTo>
                  <a:pt x="0" y="2239395"/>
                </a:lnTo>
                <a:close/>
              </a:path>
            </a:pathLst>
          </a:custGeom>
          <a:solidFill>
            <a:schemeClr val="tx2"/>
          </a:solidFill>
        </p:spPr>
        <p:txBody>
          <a:bodyPr wrap="square">
            <a:noAutofit/>
          </a:bodyPr>
          <a:lstStyle/>
          <a:p>
            <a:r>
              <a:rPr lang="en-US" smtClean="0"/>
              <a:t>Click icon to add picture</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12" name="Rectangle 1">
            <a:extLst>
              <a:ext uri="{FF2B5EF4-FFF2-40B4-BE49-F238E27FC236}">
                <a16:creationId xmlns:a16="http://schemas.microsoft.com/office/drawing/2014/main" id="{EF358276-528D-1F4E-804A-4F9FDE93568A}"/>
              </a:ext>
            </a:extLst>
          </p:cNvPr>
          <p:cNvSpPr/>
          <p:nvPr userDrawn="1"/>
        </p:nvSpPr>
        <p:spPr>
          <a:xfrm>
            <a:off x="4673599" y="2239395"/>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5" name="Rectangle 1">
            <a:extLst>
              <a:ext uri="{FF2B5EF4-FFF2-40B4-BE49-F238E27FC236}">
                <a16:creationId xmlns:a16="http://schemas.microsoft.com/office/drawing/2014/main" id="{A6817E56-9BF4-B245-9536-10F7E163D7D9}"/>
              </a:ext>
            </a:extLst>
          </p:cNvPr>
          <p:cNvSpPr/>
          <p:nvPr userDrawn="1"/>
        </p:nvSpPr>
        <p:spPr>
          <a:xfrm>
            <a:off x="581192" y="875830"/>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dirty="0"/>
          </a:p>
        </p:txBody>
      </p:sp>
      <p:sp>
        <p:nvSpPr>
          <p:cNvPr id="18" name="Content Placeholder 2">
            <a:extLst>
              <a:ext uri="{FF2B5EF4-FFF2-40B4-BE49-F238E27FC236}">
                <a16:creationId xmlns:a16="http://schemas.microsoft.com/office/drawing/2014/main" id="{A2F758DC-4792-1D42-83A8-ED4E6CD5F7E3}"/>
              </a:ext>
            </a:extLst>
          </p:cNvPr>
          <p:cNvSpPr>
            <a:spLocks noGrp="1"/>
          </p:cNvSpPr>
          <p:nvPr>
            <p:ph sz="half" idx="1"/>
          </p:nvPr>
        </p:nvSpPr>
        <p:spPr>
          <a:xfrm>
            <a:off x="581194" y="2720636"/>
            <a:ext cx="3863216" cy="3634317"/>
          </a:xfrm>
        </p:spPr>
        <p:txBody>
          <a:bodyPr anchor="t">
            <a:normAutofit/>
          </a:bodyPr>
          <a:lstStyle>
            <a:lvl1pPr>
              <a:defRPr sz="1600"/>
            </a:lvl1pPr>
            <a:lvl2pPr>
              <a:defRPr sz="1400"/>
            </a:lvl2pPr>
            <a:lvl3pPr>
              <a:defRPr sz="1200"/>
            </a:lvl3pPr>
            <a:lvl4pPr>
              <a:defRPr sz="1100"/>
            </a:lvl4pPr>
            <a:lvl5pPr>
              <a:defRPr sz="11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a:extLst>
              <a:ext uri="{FF2B5EF4-FFF2-40B4-BE49-F238E27FC236}">
                <a16:creationId xmlns:a16="http://schemas.microsoft.com/office/drawing/2014/main" id="{2859246A-0674-144E-84D6-29D5891C06F8}"/>
              </a:ext>
            </a:extLst>
          </p:cNvPr>
          <p:cNvSpPr>
            <a:spLocks noGrp="1"/>
          </p:cNvSpPr>
          <p:nvPr>
            <p:ph type="title" hasCustomPrompt="1"/>
          </p:nvPr>
        </p:nvSpPr>
        <p:spPr>
          <a:xfrm>
            <a:off x="581192" y="1304660"/>
            <a:ext cx="3863216" cy="1415976"/>
          </a:xfrm>
        </p:spPr>
        <p:txBody>
          <a:bodyPr anchor="t">
            <a:normAutofit/>
          </a:bodyPr>
          <a:lstStyle>
            <a:lvl1pPr>
              <a:defRPr sz="3400"/>
            </a:lvl1pPr>
          </a:lstStyle>
          <a:p>
            <a:r>
              <a:rPr lang="en-US" dirty="0"/>
              <a:t>Title goes here</a:t>
            </a:r>
          </a:p>
        </p:txBody>
      </p:sp>
    </p:spTree>
    <p:extLst>
      <p:ext uri="{BB962C8B-B14F-4D97-AF65-F5344CB8AC3E}">
        <p14:creationId xmlns:p14="http://schemas.microsoft.com/office/powerpoint/2010/main" val="371828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1">
            <a:extLst>
              <a:ext uri="{FF2B5EF4-FFF2-40B4-BE49-F238E27FC236}">
                <a16:creationId xmlns:a16="http://schemas.microsoft.com/office/drawing/2014/main" id="{360596E6-4DE9-A746-9D39-94401D2B4645}"/>
              </a:ext>
            </a:extLst>
          </p:cNvPr>
          <p:cNvSpPr/>
          <p:nvPr userDrawn="1"/>
        </p:nvSpPr>
        <p:spPr>
          <a:xfrm rot="16200000">
            <a:off x="3619401" y="2402840"/>
            <a:ext cx="1270001" cy="12701"/>
          </a:xfrm>
          <a:prstGeom prst="rect">
            <a:avLst/>
          </a:prstGeom>
          <a:solidFill>
            <a:srgbClr val="111111"/>
          </a:solidFill>
          <a:ln w="12700">
            <a:miter lim="400000"/>
          </a:ln>
        </p:spPr>
        <p:txBody>
          <a:bodyPr lIns="25400" tIns="25400" rIns="25400" bIns="25400" anchor="ctr"/>
          <a:lstStyle/>
          <a:p>
            <a:pPr algn="ctr">
              <a:defRPr sz="3200" spc="0">
                <a:solidFill>
                  <a:srgbClr val="000000"/>
                </a:solidFill>
                <a:latin typeface="Helvetica Light"/>
                <a:ea typeface="Helvetica Light"/>
                <a:cs typeface="Helvetica Light"/>
                <a:sym typeface="Helvetica Light"/>
              </a:defRPr>
            </a:pPr>
            <a:endParaRPr lang="en-US" sz="1600" noProof="0" dirty="0"/>
          </a:p>
        </p:txBody>
      </p:sp>
      <p:sp>
        <p:nvSpPr>
          <p:cNvPr id="14" name="Picture Placeholder 13">
            <a:extLst>
              <a:ext uri="{FF2B5EF4-FFF2-40B4-BE49-F238E27FC236}">
                <a16:creationId xmlns:a16="http://schemas.microsoft.com/office/drawing/2014/main" id="{14FCD294-AF1C-5E4C-A4DA-80CFCFA430D2}"/>
              </a:ext>
            </a:extLst>
          </p:cNvPr>
          <p:cNvSpPr>
            <a:spLocks noGrp="1"/>
          </p:cNvSpPr>
          <p:nvPr>
            <p:ph type="pic" sz="quarter" idx="13"/>
          </p:nvPr>
        </p:nvSpPr>
        <p:spPr>
          <a:xfrm>
            <a:off x="973138" y="917461"/>
            <a:ext cx="2205037" cy="4989627"/>
          </a:xfrm>
          <a:custGeom>
            <a:avLst/>
            <a:gdLst>
              <a:gd name="connsiteX0" fmla="*/ 0 w 2205037"/>
              <a:gd name="connsiteY0" fmla="*/ 0 h 4989627"/>
              <a:gd name="connsiteX1" fmla="*/ 2205037 w 2205037"/>
              <a:gd name="connsiteY1" fmla="*/ 0 h 4989627"/>
              <a:gd name="connsiteX2" fmla="*/ 2205037 w 2205037"/>
              <a:gd name="connsiteY2" fmla="*/ 4989627 h 4989627"/>
              <a:gd name="connsiteX3" fmla="*/ 0 w 2205037"/>
              <a:gd name="connsiteY3" fmla="*/ 4989627 h 4989627"/>
              <a:gd name="connsiteX4" fmla="*/ 0 w 2205037"/>
              <a:gd name="connsiteY4" fmla="*/ 4286290 h 4989627"/>
              <a:gd name="connsiteX5" fmla="*/ 809319 w 2205037"/>
              <a:gd name="connsiteY5" fmla="*/ 4286290 h 4989627"/>
              <a:gd name="connsiteX6" fmla="*/ 809319 w 2205037"/>
              <a:gd name="connsiteY6" fmla="*/ 3905289 h 4989627"/>
              <a:gd name="connsiteX7" fmla="*/ 0 w 2205037"/>
              <a:gd name="connsiteY7" fmla="*/ 3905289 h 498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5037" h="4989627">
                <a:moveTo>
                  <a:pt x="0" y="0"/>
                </a:moveTo>
                <a:lnTo>
                  <a:pt x="2205037" y="0"/>
                </a:lnTo>
                <a:lnTo>
                  <a:pt x="2205037" y="4989627"/>
                </a:lnTo>
                <a:lnTo>
                  <a:pt x="0" y="4989627"/>
                </a:lnTo>
                <a:lnTo>
                  <a:pt x="0" y="4286290"/>
                </a:lnTo>
                <a:lnTo>
                  <a:pt x="809319" y="4286290"/>
                </a:lnTo>
                <a:lnTo>
                  <a:pt x="809319" y="3905289"/>
                </a:lnTo>
                <a:lnTo>
                  <a:pt x="0" y="3905289"/>
                </a:lnTo>
                <a:close/>
              </a:path>
            </a:pathLst>
          </a:custGeom>
          <a:solidFill>
            <a:schemeClr val="tx2"/>
          </a:solidFill>
        </p:spPr>
        <p:txBody>
          <a:bodyPr wrap="square">
            <a:noAutofit/>
          </a:bodyPr>
          <a:lstStyle/>
          <a:p>
            <a:r>
              <a:rPr lang="en-US" smtClean="0"/>
              <a:t>Click icon to add picture</a:t>
            </a:r>
            <a:endParaRPr lang="en-US" dirty="0"/>
          </a:p>
        </p:txBody>
      </p:sp>
      <p:sp>
        <p:nvSpPr>
          <p:cNvPr id="15" name="Rectangle 1">
            <a:extLst>
              <a:ext uri="{FF2B5EF4-FFF2-40B4-BE49-F238E27FC236}">
                <a16:creationId xmlns:a16="http://schemas.microsoft.com/office/drawing/2014/main" id="{8EDF2123-85B2-F547-8D7A-F0273E1E9E85}"/>
              </a:ext>
            </a:extLst>
          </p:cNvPr>
          <p:cNvSpPr/>
          <p:nvPr userDrawn="1"/>
        </p:nvSpPr>
        <p:spPr>
          <a:xfrm>
            <a:off x="764089" y="482459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8" name="Title 1">
            <a:extLst>
              <a:ext uri="{FF2B5EF4-FFF2-40B4-BE49-F238E27FC236}">
                <a16:creationId xmlns:a16="http://schemas.microsoft.com/office/drawing/2014/main" id="{51DA15C9-6722-0B47-897A-7DC9AED35B7C}"/>
              </a:ext>
            </a:extLst>
          </p:cNvPr>
          <p:cNvSpPr>
            <a:spLocks noGrp="1"/>
          </p:cNvSpPr>
          <p:nvPr>
            <p:ph type="title" hasCustomPrompt="1"/>
          </p:nvPr>
        </p:nvSpPr>
        <p:spPr>
          <a:xfrm>
            <a:off x="4248051" y="2945525"/>
            <a:ext cx="2945494" cy="1613201"/>
          </a:xfrm>
        </p:spPr>
        <p:txBody>
          <a:bodyPr lIns="0" tIns="0" rIns="0" bIns="0" anchor="b">
            <a:normAutofit/>
          </a:bodyPr>
          <a:lstStyle>
            <a:lvl1pPr>
              <a:defRPr sz="3400"/>
            </a:lvl1pPr>
          </a:lstStyle>
          <a:p>
            <a:r>
              <a:rPr lang="en-US" dirty="0"/>
              <a:t>TITLE GOES HERE</a:t>
            </a:r>
          </a:p>
        </p:txBody>
      </p:sp>
      <p:sp>
        <p:nvSpPr>
          <p:cNvPr id="22" name="Content Placeholder 20">
            <a:extLst>
              <a:ext uri="{FF2B5EF4-FFF2-40B4-BE49-F238E27FC236}">
                <a16:creationId xmlns:a16="http://schemas.microsoft.com/office/drawing/2014/main" id="{5FFB748F-E999-9A4B-B9D8-B6E1C2AE0134}"/>
              </a:ext>
            </a:extLst>
          </p:cNvPr>
          <p:cNvSpPr>
            <a:spLocks noGrp="1"/>
          </p:cNvSpPr>
          <p:nvPr>
            <p:ph sz="quarter" idx="14"/>
          </p:nvPr>
        </p:nvSpPr>
        <p:spPr>
          <a:xfrm>
            <a:off x="7405688" y="2005013"/>
            <a:ext cx="4510087" cy="40274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5821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placeholder.jpg">
            <a:extLst>
              <a:ext uri="{FF2B5EF4-FFF2-40B4-BE49-F238E27FC236}">
                <a16:creationId xmlns:a16="http://schemas.microsoft.com/office/drawing/2014/main" id="{D447DA2F-5DA0-834C-9AFA-DC4F7B4ECCDC}"/>
              </a:ext>
            </a:extLst>
          </p:cNvPr>
          <p:cNvSpPr>
            <a:spLocks noGrp="1"/>
          </p:cNvSpPr>
          <p:nvPr>
            <p:ph type="pic" sz="quarter" idx="13"/>
          </p:nvPr>
        </p:nvSpPr>
        <p:spPr>
          <a:xfrm>
            <a:off x="10128308" y="717550"/>
            <a:ext cx="2063601" cy="4953001"/>
          </a:xfrm>
          <a:prstGeom prst="rect">
            <a:avLst/>
          </a:prstGeom>
          <a:solidFill>
            <a:schemeClr val="tx2"/>
          </a:solidFill>
        </p:spPr>
        <p:txBody>
          <a:bodyPr lIns="91439" tIns="45719" rIns="91439" bIns="45719">
            <a:noAutofit/>
          </a:bodyPr>
          <a:lstStyle/>
          <a:p>
            <a:r>
              <a:rPr lang="en-US" noProof="0" smtClean="0"/>
              <a:t>Click icon to add picture</a:t>
            </a:r>
            <a:endParaRPr lang="en-US" noProof="0"/>
          </a:p>
        </p:txBody>
      </p:sp>
      <p:sp>
        <p:nvSpPr>
          <p:cNvPr id="10" name="Picture Placeholder 9">
            <a:extLst>
              <a:ext uri="{FF2B5EF4-FFF2-40B4-BE49-F238E27FC236}">
                <a16:creationId xmlns:a16="http://schemas.microsoft.com/office/drawing/2014/main" id="{0292654E-1088-3C42-A573-2CBF48FA3324}"/>
              </a:ext>
            </a:extLst>
          </p:cNvPr>
          <p:cNvSpPr>
            <a:spLocks noGrp="1"/>
          </p:cNvSpPr>
          <p:nvPr>
            <p:ph type="pic" sz="quarter" idx="14"/>
          </p:nvPr>
        </p:nvSpPr>
        <p:spPr>
          <a:xfrm>
            <a:off x="1274457" y="3168650"/>
            <a:ext cx="3367194" cy="3689350"/>
          </a:xfrm>
          <a:custGeom>
            <a:avLst/>
            <a:gdLst>
              <a:gd name="connsiteX0" fmla="*/ 0 w 3367194"/>
              <a:gd name="connsiteY0" fmla="*/ 0 h 3689350"/>
              <a:gd name="connsiteX1" fmla="*/ 3367194 w 3367194"/>
              <a:gd name="connsiteY1" fmla="*/ 0 h 3689350"/>
              <a:gd name="connsiteX2" fmla="*/ 3367194 w 3367194"/>
              <a:gd name="connsiteY2" fmla="*/ 3689350 h 3689350"/>
              <a:gd name="connsiteX3" fmla="*/ 0 w 3367194"/>
              <a:gd name="connsiteY3" fmla="*/ 3689350 h 3689350"/>
              <a:gd name="connsiteX4" fmla="*/ 0 w 3367194"/>
              <a:gd name="connsiteY4" fmla="*/ 2035101 h 3689350"/>
              <a:gd name="connsiteX5" fmla="*/ 508000 w 3367194"/>
              <a:gd name="connsiteY5" fmla="*/ 2035101 h 3689350"/>
              <a:gd name="connsiteX6" fmla="*/ 508000 w 3367194"/>
              <a:gd name="connsiteY6" fmla="*/ 1654100 h 3689350"/>
              <a:gd name="connsiteX7" fmla="*/ 0 w 3367194"/>
              <a:gd name="connsiteY7" fmla="*/ 1654100 h 36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7194" h="3689350">
                <a:moveTo>
                  <a:pt x="0" y="0"/>
                </a:moveTo>
                <a:lnTo>
                  <a:pt x="3367194" y="0"/>
                </a:lnTo>
                <a:lnTo>
                  <a:pt x="3367194" y="3689350"/>
                </a:lnTo>
                <a:lnTo>
                  <a:pt x="0" y="3689350"/>
                </a:lnTo>
                <a:lnTo>
                  <a:pt x="0" y="2035101"/>
                </a:lnTo>
                <a:lnTo>
                  <a:pt x="508000" y="2035101"/>
                </a:lnTo>
                <a:lnTo>
                  <a:pt x="508000" y="1654100"/>
                </a:lnTo>
                <a:lnTo>
                  <a:pt x="0" y="1654100"/>
                </a:lnTo>
                <a:close/>
              </a:path>
            </a:pathLst>
          </a:custGeom>
          <a:solidFill>
            <a:schemeClr val="tx2"/>
          </a:solidFill>
        </p:spPr>
        <p:txBody>
          <a:bodyPr wrap="square" lIns="91439" tIns="45719" rIns="91439" bIns="45719">
            <a:noAutofit/>
          </a:bodyPr>
          <a:lstStyle/>
          <a:p>
            <a:r>
              <a:rPr lang="en-US" noProof="0" smtClean="0"/>
              <a:t>Click icon to add picture</a:t>
            </a:r>
            <a:endParaRPr lang="en-US" noProof="0"/>
          </a:p>
        </p:txBody>
      </p:sp>
      <p:sp>
        <p:nvSpPr>
          <p:cNvPr id="7" name="placeholder.jpg">
            <a:extLst>
              <a:ext uri="{FF2B5EF4-FFF2-40B4-BE49-F238E27FC236}">
                <a16:creationId xmlns:a16="http://schemas.microsoft.com/office/drawing/2014/main" id="{098C8554-580A-2442-9906-28A71B624A68}"/>
              </a:ext>
            </a:extLst>
          </p:cNvPr>
          <p:cNvSpPr>
            <a:spLocks noGrp="1"/>
          </p:cNvSpPr>
          <p:nvPr>
            <p:ph type="pic" sz="quarter" idx="15"/>
          </p:nvPr>
        </p:nvSpPr>
        <p:spPr>
          <a:xfrm>
            <a:off x="1274457" y="0"/>
            <a:ext cx="3367194" cy="2667000"/>
          </a:xfrm>
          <a:prstGeom prst="rect">
            <a:avLst/>
          </a:prstGeom>
          <a:solidFill>
            <a:schemeClr val="tx2"/>
          </a:solidFill>
        </p:spPr>
        <p:txBody>
          <a:bodyPr lIns="91439" tIns="45719" rIns="91439" bIns="45719">
            <a:noAutofit/>
          </a:bodyPr>
          <a:lstStyle/>
          <a:p>
            <a:r>
              <a:rPr lang="en-US" noProof="0" smtClean="0"/>
              <a:t>Click icon to add picture</a:t>
            </a:r>
            <a:endParaRPr lang="en-US" noProof="0"/>
          </a:p>
        </p:txBody>
      </p:sp>
      <p:sp>
        <p:nvSpPr>
          <p:cNvPr id="11" name="Rectangle 1">
            <a:extLst>
              <a:ext uri="{FF2B5EF4-FFF2-40B4-BE49-F238E27FC236}">
                <a16:creationId xmlns:a16="http://schemas.microsoft.com/office/drawing/2014/main" id="{4DD41584-4B5C-2B41-B712-6810C565BC56}"/>
              </a:ext>
            </a:extLst>
          </p:cNvPr>
          <p:cNvSpPr/>
          <p:nvPr userDrawn="1"/>
        </p:nvSpPr>
        <p:spPr>
          <a:xfrm>
            <a:off x="766456" y="4822750"/>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2" name="Rectangle 1">
            <a:extLst>
              <a:ext uri="{FF2B5EF4-FFF2-40B4-BE49-F238E27FC236}">
                <a16:creationId xmlns:a16="http://schemas.microsoft.com/office/drawing/2014/main" id="{BCFE255A-D792-824C-B7BD-0F53CCBE9393}"/>
              </a:ext>
            </a:extLst>
          </p:cNvPr>
          <p:cNvSpPr/>
          <p:nvPr userDrawn="1"/>
        </p:nvSpPr>
        <p:spPr>
          <a:xfrm>
            <a:off x="9493307" y="29019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dirty="0"/>
          </a:p>
        </p:txBody>
      </p:sp>
      <p:sp>
        <p:nvSpPr>
          <p:cNvPr id="13" name="Rectangle 1">
            <a:extLst>
              <a:ext uri="{FF2B5EF4-FFF2-40B4-BE49-F238E27FC236}">
                <a16:creationId xmlns:a16="http://schemas.microsoft.com/office/drawing/2014/main" id="{C5F7BCC5-255A-E040-9CB6-55FC42CEBF16}"/>
              </a:ext>
            </a:extLst>
          </p:cNvPr>
          <p:cNvSpPr/>
          <p:nvPr userDrawn="1"/>
        </p:nvSpPr>
        <p:spPr>
          <a:xfrm rot="16200000">
            <a:off x="3519629" y="227330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dirty="0"/>
          </a:p>
        </p:txBody>
      </p:sp>
      <p:sp>
        <p:nvSpPr>
          <p:cNvPr id="16" name="Title 1">
            <a:extLst>
              <a:ext uri="{FF2B5EF4-FFF2-40B4-BE49-F238E27FC236}">
                <a16:creationId xmlns:a16="http://schemas.microsoft.com/office/drawing/2014/main" id="{A015DDBE-BC7A-D046-BEA1-79A44722B1F7}"/>
              </a:ext>
            </a:extLst>
          </p:cNvPr>
          <p:cNvSpPr>
            <a:spLocks noGrp="1"/>
          </p:cNvSpPr>
          <p:nvPr>
            <p:ph type="title" hasCustomPrompt="1"/>
          </p:nvPr>
        </p:nvSpPr>
        <p:spPr>
          <a:xfrm>
            <a:off x="6152484" y="3486000"/>
            <a:ext cx="3658324" cy="1613201"/>
          </a:xfrm>
        </p:spPr>
        <p:txBody>
          <a:bodyPr lIns="0" tIns="0" rIns="0" bIns="0" anchor="ctr">
            <a:normAutofit/>
          </a:bodyPr>
          <a:lstStyle>
            <a:lvl1pPr>
              <a:defRPr sz="3400"/>
            </a:lvl1pPr>
          </a:lstStyle>
          <a:p>
            <a:r>
              <a:rPr lang="en-US" dirty="0"/>
              <a:t>TITLE GOES HERE</a:t>
            </a:r>
          </a:p>
        </p:txBody>
      </p:sp>
    </p:spTree>
    <p:extLst>
      <p:ext uri="{BB962C8B-B14F-4D97-AF65-F5344CB8AC3E}">
        <p14:creationId xmlns:p14="http://schemas.microsoft.com/office/powerpoint/2010/main" val="2926791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5" name="Rectangle 1">
            <a:extLst>
              <a:ext uri="{FF2B5EF4-FFF2-40B4-BE49-F238E27FC236}">
                <a16:creationId xmlns:a16="http://schemas.microsoft.com/office/drawing/2014/main" id="{D6BDBD8F-0811-E743-8D29-95FBA6111DCA}"/>
              </a:ext>
            </a:extLst>
          </p:cNvPr>
          <p:cNvSpPr/>
          <p:nvPr userDrawn="1"/>
        </p:nvSpPr>
        <p:spPr>
          <a:xfrm>
            <a:off x="5216208" y="-1"/>
            <a:ext cx="6975793" cy="6858001"/>
          </a:xfrm>
          <a:prstGeom prst="rect">
            <a:avLst/>
          </a:prstGeom>
          <a:solidFill>
            <a:schemeClr val="tx2"/>
          </a:solidFill>
          <a:ln w="12700">
            <a:miter lim="400000"/>
          </a:ln>
        </p:spPr>
        <p:txBody>
          <a:bodyPr lIns="25400" tIns="25400" rIns="25400" bIns="25400" anchor="ctr"/>
          <a:lstStyle/>
          <a:p>
            <a:pPr algn="ctr">
              <a:defRPr sz="3200" spc="0">
                <a:solidFill>
                  <a:srgbClr val="FFFFFF"/>
                </a:solidFill>
                <a:latin typeface="Helvetica Light"/>
                <a:ea typeface="Helvetica Light"/>
                <a:cs typeface="Helvetica Light"/>
                <a:sym typeface="Helvetica Light"/>
              </a:defRPr>
            </a:pPr>
            <a:endParaRPr lang="en-US" sz="1600" noProof="0"/>
          </a:p>
        </p:txBody>
      </p:sp>
      <p:sp>
        <p:nvSpPr>
          <p:cNvPr id="6" name="Rectangle 1">
            <a:extLst>
              <a:ext uri="{FF2B5EF4-FFF2-40B4-BE49-F238E27FC236}">
                <a16:creationId xmlns:a16="http://schemas.microsoft.com/office/drawing/2014/main" id="{5D8F780B-398B-314B-87F1-35307B42F72E}"/>
              </a:ext>
            </a:extLst>
          </p:cNvPr>
          <p:cNvSpPr/>
          <p:nvPr userDrawn="1"/>
        </p:nvSpPr>
        <p:spPr>
          <a:xfrm rot="16200000">
            <a:off x="797983" y="29400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a:p>
        </p:txBody>
      </p:sp>
      <p:sp>
        <p:nvSpPr>
          <p:cNvPr id="8" name="Rectangle 1">
            <a:extLst>
              <a:ext uri="{FF2B5EF4-FFF2-40B4-BE49-F238E27FC236}">
                <a16:creationId xmlns:a16="http://schemas.microsoft.com/office/drawing/2014/main" id="{D1EE7A36-F988-7C4A-A854-1D7E6E70D021}"/>
              </a:ext>
            </a:extLst>
          </p:cNvPr>
          <p:cNvSpPr/>
          <p:nvPr userDrawn="1"/>
        </p:nvSpPr>
        <p:spPr>
          <a:xfrm>
            <a:off x="4673599" y="60404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9" name="Title 1">
            <a:extLst>
              <a:ext uri="{FF2B5EF4-FFF2-40B4-BE49-F238E27FC236}">
                <a16:creationId xmlns:a16="http://schemas.microsoft.com/office/drawing/2014/main" id="{979BAFF7-5B8A-F446-87E9-6B4851CCF1C0}"/>
              </a:ext>
            </a:extLst>
          </p:cNvPr>
          <p:cNvSpPr>
            <a:spLocks noGrp="1"/>
          </p:cNvSpPr>
          <p:nvPr>
            <p:ph type="title" hasCustomPrompt="1"/>
          </p:nvPr>
        </p:nvSpPr>
        <p:spPr>
          <a:xfrm>
            <a:off x="1426632" y="4035869"/>
            <a:ext cx="3658324" cy="1613201"/>
          </a:xfrm>
        </p:spPr>
        <p:txBody>
          <a:bodyPr lIns="0" tIns="0" rIns="0" bIns="0" anchor="b">
            <a:normAutofit/>
          </a:bodyPr>
          <a:lstStyle>
            <a:lvl1pPr>
              <a:defRPr sz="3400"/>
            </a:lvl1pPr>
          </a:lstStyle>
          <a:p>
            <a:r>
              <a:rPr lang="en-US" dirty="0"/>
              <a:t>TITLE GOES HERE</a:t>
            </a:r>
          </a:p>
        </p:txBody>
      </p:sp>
      <p:sp>
        <p:nvSpPr>
          <p:cNvPr id="11" name="Content Placeholder 10">
            <a:extLst>
              <a:ext uri="{FF2B5EF4-FFF2-40B4-BE49-F238E27FC236}">
                <a16:creationId xmlns:a16="http://schemas.microsoft.com/office/drawing/2014/main" id="{95663095-8E7E-6049-8528-84CCDFA93AF6}"/>
              </a:ext>
            </a:extLst>
          </p:cNvPr>
          <p:cNvSpPr>
            <a:spLocks noGrp="1"/>
          </p:cNvSpPr>
          <p:nvPr>
            <p:ph sz="quarter" idx="13"/>
          </p:nvPr>
        </p:nvSpPr>
        <p:spPr>
          <a:xfrm>
            <a:off x="6016689" y="878177"/>
            <a:ext cx="5341775" cy="52518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80494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9E887ACE-210F-4A8A-A033-E24FD239D1BB}"/>
              </a:ext>
            </a:extLst>
          </p:cNvPr>
          <p:cNvSpPr/>
          <p:nvPr userDrawn="1"/>
        </p:nvSpPr>
        <p:spPr>
          <a:xfrm>
            <a:off x="0" y="-1"/>
            <a:ext cx="6975793" cy="6858001"/>
          </a:xfrm>
          <a:prstGeom prst="rect">
            <a:avLst/>
          </a:prstGeom>
          <a:solidFill>
            <a:schemeClr val="tx2"/>
          </a:solidFill>
          <a:ln w="12700">
            <a:miter lim="400000"/>
          </a:ln>
        </p:spPr>
        <p:txBody>
          <a:bodyPr lIns="25400" tIns="25400" rIns="25400" bIns="25400" anchor="ctr"/>
          <a:lstStyle/>
          <a:p>
            <a:pPr algn="ctr">
              <a:defRPr sz="3200" spc="0">
                <a:solidFill>
                  <a:srgbClr val="FFFFFF"/>
                </a:solidFill>
                <a:latin typeface="Helvetica Light"/>
                <a:ea typeface="Helvetica Light"/>
                <a:cs typeface="Helvetica Light"/>
                <a:sym typeface="Helvetica Light"/>
              </a:defRPr>
            </a:pPr>
            <a:endParaRPr lang="en-US" sz="1600" noProof="0"/>
          </a:p>
        </p:txBody>
      </p:sp>
      <p:sp>
        <p:nvSpPr>
          <p:cNvPr id="11" name="Content Placeholder 10">
            <a:extLst>
              <a:ext uri="{FF2B5EF4-FFF2-40B4-BE49-F238E27FC236}">
                <a16:creationId xmlns:a16="http://schemas.microsoft.com/office/drawing/2014/main" id="{95663095-8E7E-6049-8528-84CCDFA93AF6}"/>
              </a:ext>
            </a:extLst>
          </p:cNvPr>
          <p:cNvSpPr>
            <a:spLocks noGrp="1"/>
          </p:cNvSpPr>
          <p:nvPr>
            <p:ph sz="quarter" idx="13"/>
          </p:nvPr>
        </p:nvSpPr>
        <p:spPr>
          <a:xfrm>
            <a:off x="754225" y="878177"/>
            <a:ext cx="5341775" cy="52518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Date Placeholder 1"/>
          <p:cNvSpPr>
            <a:spLocks noGrp="1"/>
          </p:cNvSpPr>
          <p:nvPr>
            <p:ph type="dt" sz="half" idx="10"/>
          </p:nvPr>
        </p:nvSpPr>
        <p:spPr/>
        <p:txBody>
          <a:bodyPr/>
          <a:lstStyle/>
          <a:p>
            <a:fld id="{4EDE50D6-574B-40AF-946F-D52A04ADE379}" type="datetime1">
              <a:rPr lang="en-US" smtClean="0"/>
              <a:t>7/9/2025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
        <p:nvSpPr>
          <p:cNvPr id="6" name="Rectangle 1">
            <a:extLst>
              <a:ext uri="{FF2B5EF4-FFF2-40B4-BE49-F238E27FC236}">
                <a16:creationId xmlns:a16="http://schemas.microsoft.com/office/drawing/2014/main" id="{5D8F780B-398B-314B-87F1-35307B42F72E}"/>
              </a:ext>
            </a:extLst>
          </p:cNvPr>
          <p:cNvSpPr/>
          <p:nvPr userDrawn="1"/>
        </p:nvSpPr>
        <p:spPr>
          <a:xfrm rot="16200000">
            <a:off x="7326450" y="2940050"/>
            <a:ext cx="1270001" cy="12700"/>
          </a:xfrm>
          <a:prstGeom prst="rect">
            <a:avLst/>
          </a:prstGeom>
          <a:solidFill>
            <a:srgbClr val="24282B"/>
          </a:solidFill>
          <a:ln w="12700">
            <a:miter lim="400000"/>
          </a:ln>
        </p:spPr>
        <p:txBody>
          <a:bodyPr lIns="25400" tIns="25400" rIns="25400" bIns="25400" anchor="ctr"/>
          <a:lstStyle/>
          <a:p>
            <a:pPr algn="ctr">
              <a:defRPr sz="3200" spc="0">
                <a:solidFill>
                  <a:srgbClr val="0433FF"/>
                </a:solidFill>
                <a:latin typeface="Helvetica Light"/>
                <a:ea typeface="Helvetica Light"/>
                <a:cs typeface="Helvetica Light"/>
                <a:sym typeface="Helvetica Light"/>
              </a:defRPr>
            </a:pPr>
            <a:endParaRPr lang="en-US" sz="1600" noProof="0"/>
          </a:p>
        </p:txBody>
      </p:sp>
      <p:sp>
        <p:nvSpPr>
          <p:cNvPr id="8" name="Rectangle 1">
            <a:extLst>
              <a:ext uri="{FF2B5EF4-FFF2-40B4-BE49-F238E27FC236}">
                <a16:creationId xmlns:a16="http://schemas.microsoft.com/office/drawing/2014/main" id="{D1EE7A36-F988-7C4A-A854-1D7E6E70D021}"/>
              </a:ext>
            </a:extLst>
          </p:cNvPr>
          <p:cNvSpPr/>
          <p:nvPr userDrawn="1"/>
        </p:nvSpPr>
        <p:spPr>
          <a:xfrm>
            <a:off x="6482401" y="604043"/>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9" name="Title 1">
            <a:extLst>
              <a:ext uri="{FF2B5EF4-FFF2-40B4-BE49-F238E27FC236}">
                <a16:creationId xmlns:a16="http://schemas.microsoft.com/office/drawing/2014/main" id="{979BAFF7-5B8A-F446-87E9-6B4851CCF1C0}"/>
              </a:ext>
            </a:extLst>
          </p:cNvPr>
          <p:cNvSpPr>
            <a:spLocks noGrp="1"/>
          </p:cNvSpPr>
          <p:nvPr>
            <p:ph type="title" hasCustomPrompt="1"/>
          </p:nvPr>
        </p:nvSpPr>
        <p:spPr>
          <a:xfrm>
            <a:off x="7955099" y="4035869"/>
            <a:ext cx="3658324" cy="1613201"/>
          </a:xfrm>
        </p:spPr>
        <p:txBody>
          <a:bodyPr lIns="0" tIns="0" rIns="0" bIns="0" anchor="b">
            <a:normAutofit/>
          </a:bodyPr>
          <a:lstStyle>
            <a:lvl1pPr>
              <a:defRPr sz="3400"/>
            </a:lvl1pPr>
          </a:lstStyle>
          <a:p>
            <a:r>
              <a:rPr lang="en-US" dirty="0"/>
              <a:t>TITLE GOES HERE</a:t>
            </a:r>
          </a:p>
        </p:txBody>
      </p:sp>
    </p:spTree>
    <p:extLst>
      <p:ext uri="{BB962C8B-B14F-4D97-AF65-F5344CB8AC3E}">
        <p14:creationId xmlns:p14="http://schemas.microsoft.com/office/powerpoint/2010/main" val="2518009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7/9/2025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5" name="Rectangle 1">
            <a:extLst>
              <a:ext uri="{FF2B5EF4-FFF2-40B4-BE49-F238E27FC236}">
                <a16:creationId xmlns:a16="http://schemas.microsoft.com/office/drawing/2014/main" id="{B5C4D9A4-C8E3-4644-9D63-86142FA59A02}"/>
              </a:ext>
            </a:extLst>
          </p:cNvPr>
          <p:cNvSpPr/>
          <p:nvPr userDrawn="1"/>
        </p:nvSpPr>
        <p:spPr>
          <a:xfrm>
            <a:off x="952500" y="952500"/>
            <a:ext cx="10287000" cy="4953000"/>
          </a:xfrm>
          <a:prstGeom prst="rect">
            <a:avLst/>
          </a:prstGeom>
          <a:solidFill>
            <a:schemeClr val="tx2"/>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6" name="Rectangle 1">
            <a:extLst>
              <a:ext uri="{FF2B5EF4-FFF2-40B4-BE49-F238E27FC236}">
                <a16:creationId xmlns:a16="http://schemas.microsoft.com/office/drawing/2014/main" id="{7047AEE3-4D24-FE4F-BC8C-1050F33A970F}"/>
              </a:ext>
            </a:extLst>
          </p:cNvPr>
          <p:cNvSpPr/>
          <p:nvPr userDrawn="1"/>
        </p:nvSpPr>
        <p:spPr>
          <a:xfrm rot="16200000">
            <a:off x="5454650" y="1104900"/>
            <a:ext cx="1270000" cy="12700"/>
          </a:xfrm>
          <a:prstGeom prst="rect">
            <a:avLst/>
          </a:prstGeom>
          <a:solidFill>
            <a:srgbClr val="24282B"/>
          </a:solidFill>
          <a:ln w="12700">
            <a:miter lim="400000"/>
          </a:ln>
        </p:spPr>
        <p:txBody>
          <a:bodyPr lIns="25400" tIns="25400" rIns="25400" bIns="25400" anchor="ctr"/>
          <a:lstStyle/>
          <a:p>
            <a:pPr algn="ctr" defTabSz="412750" hangingPunct="0">
              <a:defRPr sz="3200" spc="0">
                <a:solidFill>
                  <a:srgbClr val="0433FF"/>
                </a:solidFill>
                <a:latin typeface="Helvetica Light"/>
                <a:ea typeface="Helvetica Light"/>
                <a:cs typeface="Helvetica Light"/>
                <a:sym typeface="Helvetica Light"/>
              </a:defRPr>
            </a:pPr>
            <a:endParaRPr lang="en-US" sz="1600" kern="0" noProof="0" dirty="0">
              <a:solidFill>
                <a:srgbClr val="0433FF"/>
              </a:solidFill>
              <a:latin typeface="Helvetica Light"/>
              <a:sym typeface="Helvetica Light"/>
            </a:endParaRPr>
          </a:p>
        </p:txBody>
      </p:sp>
      <p:sp>
        <p:nvSpPr>
          <p:cNvPr id="7" name="Rectangle 1">
            <a:extLst>
              <a:ext uri="{FF2B5EF4-FFF2-40B4-BE49-F238E27FC236}">
                <a16:creationId xmlns:a16="http://schemas.microsoft.com/office/drawing/2014/main" id="{2B45386C-7F1B-4D47-959C-DE1A73B407E7}"/>
              </a:ext>
            </a:extLst>
          </p:cNvPr>
          <p:cNvSpPr/>
          <p:nvPr userDrawn="1"/>
        </p:nvSpPr>
        <p:spPr>
          <a:xfrm>
            <a:off x="431799" y="136524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8" name="Rectangle 1">
            <a:extLst>
              <a:ext uri="{FF2B5EF4-FFF2-40B4-BE49-F238E27FC236}">
                <a16:creationId xmlns:a16="http://schemas.microsoft.com/office/drawing/2014/main" id="{FB1C5AC5-B8E6-EC4F-8CB9-43E091C422EF}"/>
              </a:ext>
            </a:extLst>
          </p:cNvPr>
          <p:cNvSpPr/>
          <p:nvPr userDrawn="1"/>
        </p:nvSpPr>
        <p:spPr>
          <a:xfrm>
            <a:off x="10731499" y="5065379"/>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1" name="Title 1">
            <a:extLst>
              <a:ext uri="{FF2B5EF4-FFF2-40B4-BE49-F238E27FC236}">
                <a16:creationId xmlns:a16="http://schemas.microsoft.com/office/drawing/2014/main" id="{33ACFFFD-2D44-B943-8B58-CC9B7641E79D}"/>
              </a:ext>
            </a:extLst>
          </p:cNvPr>
          <p:cNvSpPr>
            <a:spLocks noGrp="1"/>
          </p:cNvSpPr>
          <p:nvPr>
            <p:ph type="title" hasCustomPrompt="1"/>
          </p:nvPr>
        </p:nvSpPr>
        <p:spPr>
          <a:xfrm>
            <a:off x="1443567" y="3019274"/>
            <a:ext cx="9304867" cy="1613201"/>
          </a:xfrm>
        </p:spPr>
        <p:txBody>
          <a:bodyPr lIns="0" tIns="0" rIns="0" bIns="0" anchor="ctr">
            <a:normAutofit/>
          </a:bodyPr>
          <a:lstStyle>
            <a:lvl1pPr algn="ctr">
              <a:defRPr sz="3400">
                <a:solidFill>
                  <a:schemeClr val="bg1"/>
                </a:solidFill>
              </a:defRPr>
            </a:lvl1pPr>
          </a:lstStyle>
          <a:p>
            <a:r>
              <a:rPr lang="en-US" noProof="0"/>
              <a:t>TITLE GOES HERE</a:t>
            </a:r>
          </a:p>
        </p:txBody>
      </p:sp>
      <p:sp>
        <p:nvSpPr>
          <p:cNvPr id="13" name="Content Placeholder 13">
            <a:extLst>
              <a:ext uri="{FF2B5EF4-FFF2-40B4-BE49-F238E27FC236}">
                <a16:creationId xmlns:a16="http://schemas.microsoft.com/office/drawing/2014/main" id="{8E96E8CE-45C0-D643-B7F3-08C20CF5F760}"/>
              </a:ext>
            </a:extLst>
          </p:cNvPr>
          <p:cNvSpPr>
            <a:spLocks noGrp="1"/>
          </p:cNvSpPr>
          <p:nvPr>
            <p:ph sz="quarter" idx="21" hasCustomPrompt="1"/>
          </p:nvPr>
        </p:nvSpPr>
        <p:spPr>
          <a:xfrm>
            <a:off x="4437501" y="2348318"/>
            <a:ext cx="3316999" cy="269370"/>
          </a:xfrm>
        </p:spPr>
        <p:txBody>
          <a:bodyPr>
            <a:noAutofit/>
          </a:bodyPr>
          <a:lstStyle>
            <a:lvl1pPr marL="0" indent="0" algn="ctr">
              <a:lnSpc>
                <a:spcPct val="80000"/>
              </a:lnSpc>
              <a:buNone/>
              <a:defRPr sz="1600" cap="all" baseline="0">
                <a:solidFill>
                  <a:schemeClr val="bg1"/>
                </a:solidFill>
                <a:latin typeface="+mj-lt"/>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noProof="0"/>
              <a:t>SUBTITLE GOES HERE</a:t>
            </a:r>
          </a:p>
        </p:txBody>
      </p:sp>
    </p:spTree>
    <p:extLst>
      <p:ext uri="{BB962C8B-B14F-4D97-AF65-F5344CB8AC3E}">
        <p14:creationId xmlns:p14="http://schemas.microsoft.com/office/powerpoint/2010/main" val="195263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15" name="Rectangle 1">
            <a:extLst>
              <a:ext uri="{FF2B5EF4-FFF2-40B4-BE49-F238E27FC236}">
                <a16:creationId xmlns:a16="http://schemas.microsoft.com/office/drawing/2014/main" id="{F70F810B-4DED-A045-A1D2-7605E821997B}"/>
              </a:ext>
            </a:extLst>
          </p:cNvPr>
          <p:cNvSpPr/>
          <p:nvPr userDrawn="1"/>
        </p:nvSpPr>
        <p:spPr>
          <a:xfrm>
            <a:off x="0" y="4735651"/>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dirty="0">
              <a:solidFill>
                <a:srgbClr val="FFFFFF"/>
              </a:solidFill>
              <a:latin typeface="Helvetica Light"/>
              <a:sym typeface="Helvetica Light"/>
            </a:endParaRPr>
          </a:p>
        </p:txBody>
      </p:sp>
      <p:sp>
        <p:nvSpPr>
          <p:cNvPr id="17" name="Title 1">
            <a:extLst>
              <a:ext uri="{FF2B5EF4-FFF2-40B4-BE49-F238E27FC236}">
                <a16:creationId xmlns:a16="http://schemas.microsoft.com/office/drawing/2014/main" id="{3194DD3B-943C-8740-A545-0DA0E5FD2569}"/>
              </a:ext>
            </a:extLst>
          </p:cNvPr>
          <p:cNvSpPr>
            <a:spLocks noGrp="1"/>
          </p:cNvSpPr>
          <p:nvPr>
            <p:ph type="title" hasCustomPrompt="1"/>
          </p:nvPr>
        </p:nvSpPr>
        <p:spPr>
          <a:xfrm>
            <a:off x="1426632" y="4651968"/>
            <a:ext cx="3658324" cy="997102"/>
          </a:xfrm>
        </p:spPr>
        <p:txBody>
          <a:bodyPr lIns="0" tIns="0" rIns="0" bIns="0" anchor="t">
            <a:normAutofit/>
          </a:bodyPr>
          <a:lstStyle>
            <a:lvl1pPr>
              <a:defRPr sz="3400"/>
            </a:lvl1pPr>
          </a:lstStyle>
          <a:p>
            <a:r>
              <a:rPr lang="en-US" noProof="0"/>
              <a:t>TITLE GOES HERE</a:t>
            </a:r>
          </a:p>
        </p:txBody>
      </p:sp>
      <p:sp>
        <p:nvSpPr>
          <p:cNvPr id="18" name="Rectangle 1">
            <a:extLst>
              <a:ext uri="{FF2B5EF4-FFF2-40B4-BE49-F238E27FC236}">
                <a16:creationId xmlns:a16="http://schemas.microsoft.com/office/drawing/2014/main" id="{93D5DD3F-FCDF-5945-9321-0FABA0771516}"/>
              </a:ext>
            </a:extLst>
          </p:cNvPr>
          <p:cNvSpPr/>
          <p:nvPr userDrawn="1"/>
        </p:nvSpPr>
        <p:spPr>
          <a:xfrm rot="16200000">
            <a:off x="5467350" y="2065417"/>
            <a:ext cx="1270000" cy="12701"/>
          </a:xfrm>
          <a:prstGeom prst="rect">
            <a:avLst/>
          </a:prstGeom>
          <a:solidFill>
            <a:srgbClr val="24282B"/>
          </a:solidFill>
          <a:ln w="12700">
            <a:miter lim="400000"/>
          </a:ln>
        </p:spPr>
        <p:txBody>
          <a:bodyPr lIns="25400" tIns="25400" rIns="25400" bIns="25400" anchor="ctr"/>
          <a:lstStyle/>
          <a:p>
            <a:pPr algn="ctr" defTabSz="412750" hangingPunct="0">
              <a:defRPr sz="3200" spc="0">
                <a:solidFill>
                  <a:srgbClr val="0433FF"/>
                </a:solidFill>
                <a:latin typeface="Helvetica Light"/>
                <a:ea typeface="Helvetica Light"/>
                <a:cs typeface="Helvetica Light"/>
                <a:sym typeface="Helvetica Light"/>
              </a:defRPr>
            </a:pPr>
            <a:endParaRPr lang="en-US" sz="1600" kern="0" noProof="0" dirty="0">
              <a:solidFill>
                <a:srgbClr val="0433FF"/>
              </a:solidFill>
              <a:latin typeface="Helvetica Light"/>
              <a:sym typeface="Helvetica Light"/>
            </a:endParaRPr>
          </a:p>
        </p:txBody>
      </p:sp>
      <p:sp>
        <p:nvSpPr>
          <p:cNvPr id="22" name="Text Placeholder 20">
            <a:extLst>
              <a:ext uri="{FF2B5EF4-FFF2-40B4-BE49-F238E27FC236}">
                <a16:creationId xmlns:a16="http://schemas.microsoft.com/office/drawing/2014/main" id="{B8877488-477F-0041-88BE-F780F1C66A10}"/>
              </a:ext>
            </a:extLst>
          </p:cNvPr>
          <p:cNvSpPr>
            <a:spLocks noGrp="1"/>
          </p:cNvSpPr>
          <p:nvPr>
            <p:ph type="body" sz="quarter" idx="14"/>
          </p:nvPr>
        </p:nvSpPr>
        <p:spPr>
          <a:xfrm>
            <a:off x="6616172" y="0"/>
            <a:ext cx="4994803" cy="6858000"/>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425131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and Titl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7/9/2025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6" name="Rectangle 1">
            <a:extLst>
              <a:ext uri="{FF2B5EF4-FFF2-40B4-BE49-F238E27FC236}">
                <a16:creationId xmlns:a16="http://schemas.microsoft.com/office/drawing/2014/main" id="{8640E59D-783A-C149-B212-716E0C4FE00D}"/>
              </a:ext>
            </a:extLst>
          </p:cNvPr>
          <p:cNvSpPr/>
          <p:nvPr userDrawn="1"/>
        </p:nvSpPr>
        <p:spPr>
          <a:xfrm rot="5400000">
            <a:off x="1660484" y="1257302"/>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a:p>
        </p:txBody>
      </p:sp>
      <p:sp>
        <p:nvSpPr>
          <p:cNvPr id="12" name="Picture Placeholder 11">
            <a:extLst>
              <a:ext uri="{FF2B5EF4-FFF2-40B4-BE49-F238E27FC236}">
                <a16:creationId xmlns:a16="http://schemas.microsoft.com/office/drawing/2014/main" id="{4E9C988F-F5FE-BA4D-BDC5-02CCC5D68FF5}"/>
              </a:ext>
            </a:extLst>
          </p:cNvPr>
          <p:cNvSpPr>
            <a:spLocks noGrp="1"/>
          </p:cNvSpPr>
          <p:nvPr>
            <p:ph type="pic" sz="quarter" idx="13"/>
          </p:nvPr>
        </p:nvSpPr>
        <p:spPr>
          <a:xfrm>
            <a:off x="546100" y="520700"/>
            <a:ext cx="4743450" cy="5816600"/>
          </a:xfrm>
          <a:custGeom>
            <a:avLst/>
            <a:gdLst>
              <a:gd name="connsiteX0" fmla="*/ 0 w 4743450"/>
              <a:gd name="connsiteY0" fmla="*/ 0 h 5816600"/>
              <a:gd name="connsiteX1" fmla="*/ 4743450 w 4743450"/>
              <a:gd name="connsiteY1" fmla="*/ 0 h 5816600"/>
              <a:gd name="connsiteX2" fmla="*/ 4743450 w 4743450"/>
              <a:gd name="connsiteY2" fmla="*/ 285838 h 5816600"/>
              <a:gd name="connsiteX3" fmla="*/ 4406308 w 4743450"/>
              <a:gd name="connsiteY3" fmla="*/ 285838 h 5816600"/>
              <a:gd name="connsiteX4" fmla="*/ 4406308 w 4743450"/>
              <a:gd name="connsiteY4" fmla="*/ 666839 h 5816600"/>
              <a:gd name="connsiteX5" fmla="*/ 4743450 w 4743450"/>
              <a:gd name="connsiteY5" fmla="*/ 666839 h 5816600"/>
              <a:gd name="connsiteX6" fmla="*/ 4743450 w 4743450"/>
              <a:gd name="connsiteY6" fmla="*/ 5816600 h 5816600"/>
              <a:gd name="connsiteX7" fmla="*/ 0 w 4743450"/>
              <a:gd name="connsiteY7" fmla="*/ 5816600 h 581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50" h="5816600">
                <a:moveTo>
                  <a:pt x="0" y="0"/>
                </a:moveTo>
                <a:lnTo>
                  <a:pt x="4743450" y="0"/>
                </a:lnTo>
                <a:lnTo>
                  <a:pt x="4743450" y="285838"/>
                </a:lnTo>
                <a:lnTo>
                  <a:pt x="4406308" y="285838"/>
                </a:lnTo>
                <a:lnTo>
                  <a:pt x="4406308" y="666839"/>
                </a:lnTo>
                <a:lnTo>
                  <a:pt x="4743450" y="666839"/>
                </a:lnTo>
                <a:lnTo>
                  <a:pt x="4743450" y="5816600"/>
                </a:lnTo>
                <a:lnTo>
                  <a:pt x="0" y="5816600"/>
                </a:lnTo>
                <a:close/>
              </a:path>
            </a:pathLst>
          </a:custGeom>
          <a:solidFill>
            <a:schemeClr val="tx2"/>
          </a:solidFill>
        </p:spPr>
        <p:txBody>
          <a:bodyPr wrap="square">
            <a:noAutofit/>
          </a:bodyPr>
          <a:lstStyle>
            <a:lvl1pPr marL="0" indent="0" algn="ctr">
              <a:buNone/>
              <a:defRPr>
                <a:solidFill>
                  <a:schemeClr val="bg1"/>
                </a:solidFill>
              </a:defRPr>
            </a:lvl1pPr>
          </a:lstStyle>
          <a:p>
            <a:r>
              <a:rPr lang="en-US" noProof="0" smtClean="0"/>
              <a:t>Click icon to add picture</a:t>
            </a:r>
            <a:endParaRPr lang="en-US" noProof="0"/>
          </a:p>
        </p:txBody>
      </p:sp>
      <p:sp>
        <p:nvSpPr>
          <p:cNvPr id="14" name="Rectangle 1">
            <a:extLst>
              <a:ext uri="{FF2B5EF4-FFF2-40B4-BE49-F238E27FC236}">
                <a16:creationId xmlns:a16="http://schemas.microsoft.com/office/drawing/2014/main" id="{4E3F3D93-DB12-4C41-A747-8781702C120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6" name="Title 1">
            <a:extLst>
              <a:ext uri="{FF2B5EF4-FFF2-40B4-BE49-F238E27FC236}">
                <a16:creationId xmlns:a16="http://schemas.microsoft.com/office/drawing/2014/main" id="{D6C315ED-F22B-A649-80D5-44A63CE74044}"/>
              </a:ext>
            </a:extLst>
          </p:cNvPr>
          <p:cNvSpPr>
            <a:spLocks noGrp="1"/>
          </p:cNvSpPr>
          <p:nvPr>
            <p:ph type="title" hasCustomPrompt="1"/>
          </p:nvPr>
        </p:nvSpPr>
        <p:spPr>
          <a:xfrm>
            <a:off x="6096000" y="702156"/>
            <a:ext cx="6096000" cy="740156"/>
          </a:xfrm>
        </p:spPr>
        <p:txBody>
          <a:bodyPr anchor="t">
            <a:normAutofit/>
          </a:bodyPr>
          <a:lstStyle>
            <a:lvl1pPr>
              <a:defRPr sz="3400"/>
            </a:lvl1pPr>
          </a:lstStyle>
          <a:p>
            <a:r>
              <a:rPr lang="en-US" noProof="0"/>
              <a:t>TITLE GOES HERE</a:t>
            </a:r>
          </a:p>
        </p:txBody>
      </p:sp>
    </p:spTree>
    <p:extLst>
      <p:ext uri="{BB962C8B-B14F-4D97-AF65-F5344CB8AC3E}">
        <p14:creationId xmlns:p14="http://schemas.microsoft.com/office/powerpoint/2010/main" val="28732044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and Captio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noProof="0" smtClean="0"/>
              <a:t>7/9/2025</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3A98EE3D-8CD1-4C3F-BD1C-C98C9596463C}" type="slidenum">
              <a:rPr lang="en-US" noProof="0" smtClean="0"/>
              <a:t>‹#›</a:t>
            </a:fld>
            <a:endParaRPr lang="en-US" noProof="0"/>
          </a:p>
        </p:txBody>
      </p:sp>
      <p:sp>
        <p:nvSpPr>
          <p:cNvPr id="6" name="Rectangle 1">
            <a:extLst>
              <a:ext uri="{FF2B5EF4-FFF2-40B4-BE49-F238E27FC236}">
                <a16:creationId xmlns:a16="http://schemas.microsoft.com/office/drawing/2014/main" id="{8640E59D-783A-C149-B212-716E0C4FE00D}"/>
              </a:ext>
            </a:extLst>
          </p:cNvPr>
          <p:cNvSpPr/>
          <p:nvPr userDrawn="1"/>
        </p:nvSpPr>
        <p:spPr>
          <a:xfrm rot="5400000">
            <a:off x="1660484" y="1257302"/>
            <a:ext cx="2540001" cy="25400"/>
          </a:xfrm>
          <a:prstGeom prst="rect">
            <a:avLst/>
          </a:prstGeom>
          <a:solidFill>
            <a:srgbClr val="24282B"/>
          </a:solidFill>
          <a:ln w="12700">
            <a:miter lim="400000"/>
          </a:ln>
        </p:spPr>
        <p:txBody>
          <a:bodyPr lIns="50800" tIns="50800" rIns="50800" bIns="50800" anchor="ctr"/>
          <a:lstStyle/>
          <a:p>
            <a:pPr algn="ctr">
              <a:defRPr sz="3200" spc="0">
                <a:solidFill>
                  <a:srgbClr val="0433FF"/>
                </a:solidFill>
                <a:latin typeface="Helvetica Light"/>
                <a:ea typeface="Helvetica Light"/>
                <a:cs typeface="Helvetica Light"/>
                <a:sym typeface="Helvetica Light"/>
              </a:defRPr>
            </a:pPr>
            <a:endParaRPr lang="en-US" noProof="0"/>
          </a:p>
        </p:txBody>
      </p:sp>
      <p:sp>
        <p:nvSpPr>
          <p:cNvPr id="12" name="Picture Placeholder 11">
            <a:extLst>
              <a:ext uri="{FF2B5EF4-FFF2-40B4-BE49-F238E27FC236}">
                <a16:creationId xmlns:a16="http://schemas.microsoft.com/office/drawing/2014/main" id="{4E9C988F-F5FE-BA4D-BDC5-02CCC5D68FF5}"/>
              </a:ext>
            </a:extLst>
          </p:cNvPr>
          <p:cNvSpPr>
            <a:spLocks noGrp="1"/>
          </p:cNvSpPr>
          <p:nvPr>
            <p:ph type="pic" sz="quarter" idx="13"/>
          </p:nvPr>
        </p:nvSpPr>
        <p:spPr>
          <a:xfrm>
            <a:off x="546100" y="520700"/>
            <a:ext cx="4743450" cy="5816600"/>
          </a:xfrm>
          <a:custGeom>
            <a:avLst/>
            <a:gdLst>
              <a:gd name="connsiteX0" fmla="*/ 0 w 4743450"/>
              <a:gd name="connsiteY0" fmla="*/ 0 h 5816600"/>
              <a:gd name="connsiteX1" fmla="*/ 4743450 w 4743450"/>
              <a:gd name="connsiteY1" fmla="*/ 0 h 5816600"/>
              <a:gd name="connsiteX2" fmla="*/ 4743450 w 4743450"/>
              <a:gd name="connsiteY2" fmla="*/ 285838 h 5816600"/>
              <a:gd name="connsiteX3" fmla="*/ 4406308 w 4743450"/>
              <a:gd name="connsiteY3" fmla="*/ 285838 h 5816600"/>
              <a:gd name="connsiteX4" fmla="*/ 4406308 w 4743450"/>
              <a:gd name="connsiteY4" fmla="*/ 666839 h 5816600"/>
              <a:gd name="connsiteX5" fmla="*/ 4743450 w 4743450"/>
              <a:gd name="connsiteY5" fmla="*/ 666839 h 5816600"/>
              <a:gd name="connsiteX6" fmla="*/ 4743450 w 4743450"/>
              <a:gd name="connsiteY6" fmla="*/ 5816600 h 5816600"/>
              <a:gd name="connsiteX7" fmla="*/ 0 w 4743450"/>
              <a:gd name="connsiteY7" fmla="*/ 5816600 h 581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3450" h="5816600">
                <a:moveTo>
                  <a:pt x="0" y="0"/>
                </a:moveTo>
                <a:lnTo>
                  <a:pt x="4743450" y="0"/>
                </a:lnTo>
                <a:lnTo>
                  <a:pt x="4743450" y="285838"/>
                </a:lnTo>
                <a:lnTo>
                  <a:pt x="4406308" y="285838"/>
                </a:lnTo>
                <a:lnTo>
                  <a:pt x="4406308" y="666839"/>
                </a:lnTo>
                <a:lnTo>
                  <a:pt x="4743450" y="666839"/>
                </a:lnTo>
                <a:lnTo>
                  <a:pt x="4743450" y="5816600"/>
                </a:lnTo>
                <a:lnTo>
                  <a:pt x="0" y="5816600"/>
                </a:lnTo>
                <a:close/>
              </a:path>
            </a:pathLst>
          </a:custGeom>
          <a:solidFill>
            <a:schemeClr val="tx2"/>
          </a:solidFill>
        </p:spPr>
        <p:txBody>
          <a:bodyPr wrap="square">
            <a:noAutofit/>
          </a:bodyPr>
          <a:lstStyle>
            <a:lvl1pPr marL="0" indent="0" algn="ctr">
              <a:buNone/>
              <a:defRPr>
                <a:solidFill>
                  <a:schemeClr val="bg1"/>
                </a:solidFill>
              </a:defRPr>
            </a:lvl1pPr>
          </a:lstStyle>
          <a:p>
            <a:r>
              <a:rPr lang="en-US" noProof="0" smtClean="0"/>
              <a:t>Click icon to add picture</a:t>
            </a:r>
            <a:endParaRPr lang="en-US" noProof="0"/>
          </a:p>
        </p:txBody>
      </p:sp>
      <p:sp>
        <p:nvSpPr>
          <p:cNvPr id="14" name="Rectangle 1">
            <a:extLst>
              <a:ext uri="{FF2B5EF4-FFF2-40B4-BE49-F238E27FC236}">
                <a16:creationId xmlns:a16="http://schemas.microsoft.com/office/drawing/2014/main" id="{4E3F3D93-DB12-4C41-A747-8781702C1204}"/>
              </a:ext>
            </a:extLst>
          </p:cNvPr>
          <p:cNvSpPr/>
          <p:nvPr userDrawn="1"/>
        </p:nvSpPr>
        <p:spPr>
          <a:xfrm>
            <a:off x="4952408" y="806538"/>
            <a:ext cx="1016001" cy="381001"/>
          </a:xfrm>
          <a:prstGeom prst="rect">
            <a:avLst/>
          </a:prstGeom>
          <a:solidFill>
            <a:schemeClr val="accent1"/>
          </a:solidFill>
          <a:ln w="12700">
            <a:miter lim="400000"/>
          </a:ln>
        </p:spPr>
        <p:txBody>
          <a:bodyPr lIns="25400" tIns="25400" rIns="25400" bIns="25400" anchor="ctr"/>
          <a:lstStyle/>
          <a:p>
            <a:pPr algn="ctr" defTabSz="412750" hangingPunct="0">
              <a:defRPr sz="3200" spc="0">
                <a:solidFill>
                  <a:srgbClr val="FFFFFF"/>
                </a:solidFill>
                <a:latin typeface="Helvetica Light"/>
                <a:ea typeface="Helvetica Light"/>
                <a:cs typeface="Helvetica Light"/>
                <a:sym typeface="Helvetica Light"/>
              </a:defRPr>
            </a:pPr>
            <a:endParaRPr lang="en-US" sz="1600" kern="0" noProof="0">
              <a:solidFill>
                <a:srgbClr val="FFFFFF"/>
              </a:solidFill>
              <a:latin typeface="Helvetica Light"/>
              <a:sym typeface="Helvetica Light"/>
            </a:endParaRPr>
          </a:p>
        </p:txBody>
      </p:sp>
      <p:sp>
        <p:nvSpPr>
          <p:cNvPr id="16" name="Title 1">
            <a:extLst>
              <a:ext uri="{FF2B5EF4-FFF2-40B4-BE49-F238E27FC236}">
                <a16:creationId xmlns:a16="http://schemas.microsoft.com/office/drawing/2014/main" id="{D6C315ED-F22B-A649-80D5-44A63CE74044}"/>
              </a:ext>
            </a:extLst>
          </p:cNvPr>
          <p:cNvSpPr>
            <a:spLocks noGrp="1"/>
          </p:cNvSpPr>
          <p:nvPr>
            <p:ph type="title" hasCustomPrompt="1"/>
          </p:nvPr>
        </p:nvSpPr>
        <p:spPr>
          <a:xfrm>
            <a:off x="6096000" y="702156"/>
            <a:ext cx="6096000" cy="740156"/>
          </a:xfrm>
        </p:spPr>
        <p:txBody>
          <a:bodyPr anchor="t">
            <a:normAutofit/>
          </a:bodyPr>
          <a:lstStyle>
            <a:lvl1pPr>
              <a:defRPr sz="3400"/>
            </a:lvl1pPr>
          </a:lstStyle>
          <a:p>
            <a:r>
              <a:rPr lang="en-US" noProof="0"/>
              <a:t>TITLE GOES HERE</a:t>
            </a:r>
          </a:p>
        </p:txBody>
      </p:sp>
      <p:sp>
        <p:nvSpPr>
          <p:cNvPr id="9" name="Content Placeholder 8">
            <a:extLst>
              <a:ext uri="{FF2B5EF4-FFF2-40B4-BE49-F238E27FC236}">
                <a16:creationId xmlns:a16="http://schemas.microsoft.com/office/drawing/2014/main" id="{DEE6C881-74AA-8944-AD6A-BA0821ECDCAE}"/>
              </a:ext>
            </a:extLst>
          </p:cNvPr>
          <p:cNvSpPr>
            <a:spLocks noGrp="1"/>
          </p:cNvSpPr>
          <p:nvPr>
            <p:ph sz="quarter" idx="14"/>
          </p:nvPr>
        </p:nvSpPr>
        <p:spPr>
          <a:xfrm>
            <a:off x="6096000" y="1443038"/>
            <a:ext cx="5514975" cy="4894262"/>
          </a:xfrm>
        </p:spPr>
        <p:txBody>
          <a:bodyPr/>
          <a:lstStyle>
            <a:lvl1pPr>
              <a:spcBef>
                <a:spcPts val="1000"/>
              </a:spcBef>
              <a:spcAft>
                <a:spcPts val="1500"/>
              </a:spcAft>
              <a:defRPr/>
            </a:lvl1pPr>
            <a:lvl2pPr>
              <a:spcBef>
                <a:spcPts val="1000"/>
              </a:spcBef>
              <a:spcAft>
                <a:spcPts val="1500"/>
              </a:spcAft>
              <a:defRPr/>
            </a:lvl2pPr>
            <a:lvl3pPr>
              <a:spcBef>
                <a:spcPts val="1000"/>
              </a:spcBef>
              <a:spcAft>
                <a:spcPts val="1500"/>
              </a:spcAft>
              <a:defRPr/>
            </a:lvl3pPr>
            <a:lvl4pPr>
              <a:spcBef>
                <a:spcPts val="1000"/>
              </a:spcBef>
              <a:spcAft>
                <a:spcPts val="1500"/>
              </a:spcAft>
              <a:defRPr/>
            </a:lvl4pPr>
            <a:lvl5pPr>
              <a:spcBef>
                <a:spcPts val="1000"/>
              </a:spcBef>
              <a:spcAft>
                <a:spcPts val="1500"/>
              </a:spcAft>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6772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7/9/2025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2444890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95" r:id="rId3"/>
    <p:sldLayoutId id="2147483676" r:id="rId4"/>
    <p:sldLayoutId id="2147483677" r:id="rId5"/>
    <p:sldLayoutId id="2147483684" r:id="rId6"/>
    <p:sldLayoutId id="2147483678" r:id="rId7"/>
    <p:sldLayoutId id="2147483679" r:id="rId8"/>
    <p:sldLayoutId id="2147483698" r:id="rId9"/>
    <p:sldLayoutId id="2147483697" r:id="rId10"/>
    <p:sldLayoutId id="2147483696" r:id="rId11"/>
    <p:sldLayoutId id="2147483693" r:id="rId12"/>
    <p:sldLayoutId id="2147483694" r:id="rId13"/>
    <p:sldLayoutId id="2147483692" r:id="rId14"/>
    <p:sldLayoutId id="2147483691" r:id="rId15"/>
    <p:sldLayoutId id="2147483689" r:id="rId16"/>
    <p:sldLayoutId id="2147483690" r:id="rId17"/>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A69D-9764-6F43-A39D-17C946E0EF06}"/>
              </a:ext>
            </a:extLst>
          </p:cNvPr>
          <p:cNvSpPr>
            <a:spLocks noGrp="1"/>
          </p:cNvSpPr>
          <p:nvPr>
            <p:ph type="ctrTitle"/>
          </p:nvPr>
        </p:nvSpPr>
        <p:spPr>
          <a:xfrm>
            <a:off x="581193" y="747870"/>
            <a:ext cx="10993549" cy="1475013"/>
          </a:xfrm>
        </p:spPr>
        <p:txBody>
          <a:bodyPr>
            <a:normAutofit fontScale="90000"/>
          </a:bodyPr>
          <a:lstStyle/>
          <a:p>
            <a:r>
              <a:rPr lang="en-US" b="1" dirty="0" smtClean="0"/>
              <a:t>Tweet Pulse: Real-Time Sentiment Monitoring and Visualization Dashboard</a:t>
            </a:r>
            <a:endParaRPr lang="en-US" b="1" dirty="0"/>
          </a:p>
        </p:txBody>
      </p:sp>
      <p:sp>
        <p:nvSpPr>
          <p:cNvPr id="3" name="Subtitle 2">
            <a:extLst>
              <a:ext uri="{FF2B5EF4-FFF2-40B4-BE49-F238E27FC236}">
                <a16:creationId xmlns:a16="http://schemas.microsoft.com/office/drawing/2014/main" id="{171C4BF9-0712-B24C-9B29-1A941E18718E}"/>
              </a:ext>
            </a:extLst>
          </p:cNvPr>
          <p:cNvSpPr>
            <a:spLocks noGrp="1"/>
          </p:cNvSpPr>
          <p:nvPr>
            <p:ph type="subTitle" idx="1"/>
          </p:nvPr>
        </p:nvSpPr>
        <p:spPr>
          <a:xfrm>
            <a:off x="581193" y="2310807"/>
            <a:ext cx="6426275" cy="599447"/>
          </a:xfrm>
        </p:spPr>
        <p:txBody>
          <a:bodyPr>
            <a:normAutofit fontScale="92500" lnSpcReduction="20000"/>
          </a:bodyPr>
          <a:lstStyle/>
          <a:p>
            <a:r>
              <a:rPr lang="en-US" sz="1700" b="1" dirty="0" smtClean="0">
                <a:latin typeface="Times New Roman" panose="02020603050405020304" pitchFamily="18" charset="0"/>
                <a:cs typeface="Times New Roman" panose="02020603050405020304" pitchFamily="18" charset="0"/>
              </a:rPr>
              <a:t>Presented by</a:t>
            </a:r>
          </a:p>
          <a:p>
            <a:r>
              <a:rPr lang="en-US" dirty="0" smtClean="0">
                <a:latin typeface="Times New Roman" panose="02020603050405020304" pitchFamily="18" charset="0"/>
                <a:cs typeface="Times New Roman" panose="02020603050405020304" pitchFamily="18" charset="0"/>
              </a:rPr>
              <a:t>Haneesh(192324084) ,Bharath(192324102) ,IRFAN(192373001)</a:t>
            </a: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468314" y="3912576"/>
            <a:ext cx="9231923" cy="1569660"/>
          </a:xfrm>
          <a:prstGeom prst="rect">
            <a:avLst/>
          </a:prstGeom>
          <a:noFill/>
        </p:spPr>
        <p:txBody>
          <a:bodyPr wrap="square" rtlCol="0">
            <a:spAutoFit/>
          </a:bodyPr>
          <a:lstStyle/>
          <a:p>
            <a:r>
              <a:rPr lang="en-US" sz="3200" dirty="0">
                <a:solidFill>
                  <a:schemeClr val="bg1"/>
                </a:solidFill>
              </a:rPr>
              <a:t>Module 1: Sentiment </a:t>
            </a:r>
            <a:r>
              <a:rPr lang="en-US" sz="3200" dirty="0" smtClean="0">
                <a:solidFill>
                  <a:schemeClr val="bg1"/>
                </a:solidFill>
              </a:rPr>
              <a:t>Classification</a:t>
            </a:r>
          </a:p>
          <a:p>
            <a:r>
              <a:rPr lang="en-US" sz="3200" dirty="0" smtClean="0">
                <a:solidFill>
                  <a:schemeClr val="bg1"/>
                </a:solidFill>
              </a:rPr>
              <a:t>Module </a:t>
            </a:r>
            <a:r>
              <a:rPr lang="en-US" sz="3200" dirty="0">
                <a:solidFill>
                  <a:schemeClr val="bg1"/>
                </a:solidFill>
              </a:rPr>
              <a:t>2: Live Twitter Stream Sentiment </a:t>
            </a:r>
            <a:r>
              <a:rPr lang="en-US" sz="3200" dirty="0" smtClean="0">
                <a:solidFill>
                  <a:schemeClr val="bg1"/>
                </a:solidFill>
              </a:rPr>
              <a:t>Monitoring</a:t>
            </a:r>
          </a:p>
          <a:p>
            <a:r>
              <a:rPr lang="en-US" sz="3200" dirty="0" smtClean="0">
                <a:solidFill>
                  <a:schemeClr val="bg1"/>
                </a:solidFill>
              </a:rPr>
              <a:t>Module </a:t>
            </a:r>
            <a:r>
              <a:rPr lang="en-US" sz="3200" dirty="0">
                <a:solidFill>
                  <a:schemeClr val="bg1"/>
                </a:solidFill>
              </a:rPr>
              <a:t>3: Topic Modeling and Sentiment Correlation</a:t>
            </a:r>
            <a:endParaRPr lang="en-IN" sz="3200" dirty="0">
              <a:solidFill>
                <a:schemeClr val="bg1"/>
              </a:solidFill>
            </a:endParaRPr>
          </a:p>
        </p:txBody>
      </p:sp>
      <p:pic>
        <p:nvPicPr>
          <p:cNvPr id="6"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74" y="192304"/>
            <a:ext cx="909638" cy="9001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6773" y="143372"/>
            <a:ext cx="712788"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44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 R O B L E M   S T A T E M E N 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nSpc>
                <a:spcPct val="150000"/>
              </a:lnSpc>
            </a:pPr>
            <a:r>
              <a:rPr lang="en-US" sz="2400" b="1" dirty="0">
                <a:latin typeface="Times New Roman" panose="02020603050405020304" pitchFamily="18" charset="0"/>
                <a:cs typeface="Times New Roman" panose="02020603050405020304" pitchFamily="18" charset="0"/>
              </a:rPr>
              <a:t>Unfiltered Public Opinion</a:t>
            </a:r>
            <a:r>
              <a:rPr lang="en-US" sz="2400" dirty="0">
                <a:latin typeface="Times New Roman" panose="02020603050405020304" pitchFamily="18" charset="0"/>
                <a:cs typeface="Times New Roman" panose="02020603050405020304" pitchFamily="18" charset="0"/>
              </a:rPr>
              <a:t>: Organizations lack an efficient way to monitor real-time public sentiment on Twitter about trending topics, brands, or events.</a:t>
            </a:r>
          </a:p>
          <a:p>
            <a:pPr>
              <a:lnSpc>
                <a:spcPct val="150000"/>
              </a:lnSpc>
            </a:pPr>
            <a:r>
              <a:rPr lang="en-US" sz="2400" b="1" dirty="0">
                <a:latin typeface="Times New Roman" panose="02020603050405020304" pitchFamily="18" charset="0"/>
                <a:cs typeface="Times New Roman" panose="02020603050405020304" pitchFamily="18" charset="0"/>
              </a:rPr>
              <a:t>Data Overload</a:t>
            </a:r>
            <a:r>
              <a:rPr lang="en-US" sz="2400" dirty="0">
                <a:latin typeface="Times New Roman" panose="02020603050405020304" pitchFamily="18" charset="0"/>
                <a:cs typeface="Times New Roman" panose="02020603050405020304" pitchFamily="18" charset="0"/>
              </a:rPr>
              <a:t>: The massive volume and velocity of tweets make it difficult to extract meaningful insights manually.</a:t>
            </a:r>
          </a:p>
          <a:p>
            <a:pPr>
              <a:lnSpc>
                <a:spcPct val="150000"/>
              </a:lnSpc>
            </a:pPr>
            <a:r>
              <a:rPr lang="en-US" sz="2400" b="1" dirty="0">
                <a:latin typeface="Times New Roman" panose="02020603050405020304" pitchFamily="18" charset="0"/>
                <a:cs typeface="Times New Roman" panose="02020603050405020304" pitchFamily="18" charset="0"/>
              </a:rPr>
              <a:t>Lack of Visualization</a:t>
            </a:r>
            <a:r>
              <a:rPr lang="en-US" sz="2400" dirty="0">
                <a:latin typeface="Times New Roman" panose="02020603050405020304" pitchFamily="18" charset="0"/>
                <a:cs typeface="Times New Roman" panose="02020603050405020304" pitchFamily="18" charset="0"/>
              </a:rPr>
              <a:t>: Stakeholders struggle to interpret sentiment trends without an intuitive and interactive visualization platform.</a:t>
            </a:r>
          </a:p>
          <a:p>
            <a:pPr>
              <a:lnSpc>
                <a:spcPct val="150000"/>
              </a:lnSpc>
            </a:pPr>
            <a:r>
              <a:rPr lang="en-US" sz="2400" b="1" dirty="0">
                <a:latin typeface="Times New Roman" panose="02020603050405020304" pitchFamily="18" charset="0"/>
                <a:cs typeface="Times New Roman" panose="02020603050405020304" pitchFamily="18" charset="0"/>
              </a:rPr>
              <a:t>Real-Time Decision Gap</a:t>
            </a:r>
            <a:r>
              <a:rPr lang="en-US" sz="2400" dirty="0">
                <a:latin typeface="Times New Roman" panose="02020603050405020304" pitchFamily="18" charset="0"/>
                <a:cs typeface="Times New Roman" panose="02020603050405020304" pitchFamily="18" charset="0"/>
              </a:rPr>
              <a:t>: Without live sentiment analysis, businesses and analysts miss opportunities to respond promptly to public opinion shifts.</a:t>
            </a:r>
          </a:p>
        </p:txBody>
      </p:sp>
      <p:pic>
        <p:nvPicPr>
          <p:cNvPr id="5"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870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 B S T R A C T</a:t>
            </a:r>
            <a:endParaRPr lang="en-IN" b="1" dirty="0"/>
          </a:p>
        </p:txBody>
      </p:sp>
      <p:sp>
        <p:nvSpPr>
          <p:cNvPr id="3" name="Content Placeholder 2"/>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Tweet Pulse is a real-time sentiment monitoring and visualization dashboard that analyzes tweets using the Natural Language Toolkit (NLTK) and Natural Language Processing (NLP) techniques. It captures live Twitter data, classifies sentiments as positive, negative, or neutral, and presents the results through interactive visualizations such as graphs and charts.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system allows users to instantly track public opinion on specific topics, events, or brands. Tweets are collected via the Twitter API based on selected keywords or hashtags, then processed through sentiment analysis algorithms. The final output is displayed in a dynamic dashboard, offering stakeholders live, actionable insights into public sentiment trends, thereby enabling timely decisions and strategic responses.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93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 B J E C T I V E</a:t>
            </a:r>
            <a:endParaRPr lang="en-IN" b="1" dirty="0"/>
          </a:p>
        </p:txBody>
      </p:sp>
      <p:sp>
        <p:nvSpPr>
          <p:cNvPr id="3" name="Content Placeholder 2"/>
          <p:cNvSpPr>
            <a:spLocks noGrp="1"/>
          </p:cNvSpPr>
          <p:nvPr>
            <p:ph idx="1"/>
          </p:nvPr>
        </p:nvSpPr>
        <p:spPr>
          <a:xfrm>
            <a:off x="735057" y="1196284"/>
            <a:ext cx="10721886" cy="4167024"/>
          </a:xfrm>
        </p:spPr>
        <p:txBody>
          <a:bodyPr>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To develop a real-time dashboard that analyzes and visualizes public sentiment from Twitter using </a:t>
            </a:r>
            <a:r>
              <a:rPr lang="en-US" sz="2400" b="1" dirty="0" smtClean="0">
                <a:latin typeface="Times New Roman" panose="02020603050405020304" pitchFamily="18" charset="0"/>
                <a:cs typeface="Times New Roman" panose="02020603050405020304" pitchFamily="18" charset="0"/>
              </a:rPr>
              <a:t>Natural Language Processing (NLP) </a:t>
            </a:r>
            <a:r>
              <a:rPr lang="en-US" sz="2400" b="1" dirty="0">
                <a:latin typeface="Times New Roman" panose="02020603050405020304" pitchFamily="18" charset="0"/>
                <a:cs typeface="Times New Roman" panose="02020603050405020304" pitchFamily="18" charset="0"/>
              </a:rPr>
              <a:t>techniques.</a:t>
            </a:r>
            <a:endParaRPr lang="en-US"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731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ECB34-6337-DE4D-8FD3-A3A0F5766F21}"/>
              </a:ext>
            </a:extLst>
          </p:cNvPr>
          <p:cNvSpPr>
            <a:spLocks noGrp="1"/>
          </p:cNvSpPr>
          <p:nvPr>
            <p:ph type="title"/>
          </p:nvPr>
        </p:nvSpPr>
        <p:spPr/>
        <p:txBody>
          <a:bodyPr/>
          <a:lstStyle/>
          <a:p>
            <a:r>
              <a:rPr lang="en-US" b="1" dirty="0">
                <a:solidFill>
                  <a:schemeClr val="tx1"/>
                </a:solidFill>
              </a:rPr>
              <a:t>Module 1</a:t>
            </a:r>
            <a:r>
              <a:rPr lang="en-US" dirty="0">
                <a:solidFill>
                  <a:schemeClr val="tx1"/>
                </a:solidFill>
              </a:rPr>
              <a:t>: Sentiment Classification</a:t>
            </a:r>
          </a:p>
        </p:txBody>
      </p:sp>
      <p:sp>
        <p:nvSpPr>
          <p:cNvPr id="6" name="Content Placeholder 5"/>
          <p:cNvSpPr>
            <a:spLocks noGrp="1"/>
          </p:cNvSpPr>
          <p:nvPr>
            <p:ph idx="1"/>
          </p:nvPr>
        </p:nvSpPr>
        <p:spPr/>
        <p:txBody>
          <a:bodyPr>
            <a:noAutofit/>
          </a:bodyPr>
          <a:lstStyle/>
          <a:p>
            <a:pPr marL="0" indent="0" algn="just">
              <a:buNone/>
            </a:pPr>
            <a:r>
              <a:rPr lang="en-IN" sz="1200" b="1" dirty="0">
                <a:latin typeface="Times New Roman" panose="02020603050405020304" pitchFamily="18" charset="0"/>
                <a:cs typeface="Times New Roman" panose="02020603050405020304" pitchFamily="18" charset="0"/>
              </a:rPr>
              <a:t>Objective</a:t>
            </a:r>
            <a:r>
              <a:rPr lang="en-IN" sz="1200" dirty="0">
                <a:latin typeface="Times New Roman" panose="02020603050405020304" pitchFamily="18" charset="0"/>
                <a:cs typeface="Times New Roman" panose="02020603050405020304" pitchFamily="18" charset="0"/>
              </a:rPr>
              <a:t>: Build a sentiment classification model for tweets.</a:t>
            </a:r>
          </a:p>
          <a:p>
            <a:pPr marL="0" indent="0" algn="just">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Tasks</a:t>
            </a:r>
            <a:r>
              <a:rPr lang="en-IN" sz="1200" dirty="0">
                <a:latin typeface="Times New Roman" panose="02020603050405020304" pitchFamily="18" charset="0"/>
                <a:cs typeface="Times New Roman" panose="02020603050405020304" pitchFamily="18" charset="0"/>
              </a:rPr>
              <a:t>:</a:t>
            </a:r>
          </a:p>
          <a:p>
            <a:pPr algn="just"/>
            <a:r>
              <a:rPr lang="en-IN" sz="1200" dirty="0">
                <a:latin typeface="Times New Roman" panose="02020603050405020304" pitchFamily="18" charset="0"/>
                <a:cs typeface="Times New Roman" panose="02020603050405020304" pitchFamily="18" charset="0"/>
              </a:rPr>
              <a:t>- Collect and preprocess labeled Twitter data.</a:t>
            </a:r>
          </a:p>
          <a:p>
            <a:pPr algn="just"/>
            <a:r>
              <a:rPr lang="en-IN" sz="1200" dirty="0">
                <a:latin typeface="Times New Roman" panose="02020603050405020304" pitchFamily="18" charset="0"/>
                <a:cs typeface="Times New Roman" panose="02020603050405020304" pitchFamily="18" charset="0"/>
              </a:rPr>
              <a:t>- Explore different ML/NLP models.</a:t>
            </a:r>
          </a:p>
          <a:p>
            <a:pPr algn="just"/>
            <a:r>
              <a:rPr lang="en-IN" sz="1200" dirty="0">
                <a:latin typeface="Times New Roman" panose="02020603050405020304" pitchFamily="18" charset="0"/>
                <a:cs typeface="Times New Roman" panose="02020603050405020304" pitchFamily="18" charset="0"/>
              </a:rPr>
              <a:t>- Train and evaluate the sentiment classifier.</a:t>
            </a:r>
          </a:p>
          <a:p>
            <a:pPr marL="0" indent="0" algn="just">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 Parameters</a:t>
            </a:r>
            <a:r>
              <a:rPr lang="en-IN" sz="1200" dirty="0">
                <a:latin typeface="Times New Roman" panose="02020603050405020304" pitchFamily="18" charset="0"/>
                <a:cs typeface="Times New Roman" panose="02020603050405020304" pitchFamily="18" charset="0"/>
              </a:rPr>
              <a:t>:</a:t>
            </a:r>
          </a:p>
          <a:p>
            <a:pPr algn="just"/>
            <a:r>
              <a:rPr lang="en-IN" sz="1200" dirty="0">
                <a:latin typeface="Times New Roman" panose="02020603050405020304" pitchFamily="18" charset="0"/>
                <a:cs typeface="Times New Roman" panose="02020603050405020304" pitchFamily="18" charset="0"/>
              </a:rPr>
              <a:t>- Dataset: Twitter Sentiment140 or labeled tweets.</a:t>
            </a:r>
          </a:p>
          <a:p>
            <a:pPr algn="just"/>
            <a:r>
              <a:rPr lang="en-IN" sz="1200" dirty="0">
                <a:latin typeface="Times New Roman" panose="02020603050405020304" pitchFamily="18" charset="0"/>
                <a:cs typeface="Times New Roman" panose="02020603050405020304" pitchFamily="18" charset="0"/>
              </a:rPr>
              <a:t>- Labels: Positive, Negative, Neutral.</a:t>
            </a:r>
          </a:p>
          <a:p>
            <a:pPr algn="just"/>
            <a:r>
              <a:rPr lang="en-IN" sz="1200" dirty="0">
                <a:latin typeface="Times New Roman" panose="02020603050405020304" pitchFamily="18" charset="0"/>
                <a:cs typeface="Times New Roman" panose="02020603050405020304" pitchFamily="18" charset="0"/>
              </a:rPr>
              <a:t>- Text preprocessing: tokenization, stopword removal, stemming.</a:t>
            </a:r>
          </a:p>
          <a:p>
            <a:pPr algn="just"/>
            <a:r>
              <a:rPr lang="en-IN" sz="1200" dirty="0">
                <a:latin typeface="Times New Roman" panose="02020603050405020304" pitchFamily="18" charset="0"/>
                <a:cs typeface="Times New Roman" panose="02020603050405020304" pitchFamily="18" charset="0"/>
              </a:rPr>
              <a:t>- Model hyperparameters: learning rate, vectorizer type, etc.</a:t>
            </a:r>
          </a:p>
          <a:p>
            <a:pPr marL="0" indent="0" algn="just">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Outcome</a:t>
            </a:r>
            <a:r>
              <a:rPr lang="en-IN" sz="1200" dirty="0">
                <a:latin typeface="Times New Roman" panose="02020603050405020304" pitchFamily="18" charset="0"/>
                <a:cs typeface="Times New Roman" panose="02020603050405020304" pitchFamily="18" charset="0"/>
              </a:rPr>
              <a:t>:</a:t>
            </a:r>
          </a:p>
          <a:p>
            <a:pPr algn="just"/>
            <a:r>
              <a:rPr lang="en-IN" sz="1200" dirty="0">
                <a:latin typeface="Times New Roman" panose="02020603050405020304" pitchFamily="18" charset="0"/>
                <a:cs typeface="Times New Roman" panose="02020603050405020304" pitchFamily="18" charset="0"/>
              </a:rPr>
              <a:t>- Trained model for predicting tweet sentiment.</a:t>
            </a:r>
          </a:p>
          <a:p>
            <a:pPr algn="just"/>
            <a:r>
              <a:rPr lang="en-IN" sz="1200" dirty="0">
                <a:latin typeface="Times New Roman" panose="02020603050405020304" pitchFamily="18" charset="0"/>
                <a:cs typeface="Times New Roman" panose="02020603050405020304" pitchFamily="18" charset="0"/>
              </a:rPr>
              <a:t>- Performance metrics: accuracy, precision, recall, F1 score.</a:t>
            </a:r>
          </a:p>
          <a:p>
            <a:pPr marL="0" indent="0" algn="just">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Techniques</a:t>
            </a:r>
            <a:r>
              <a:rPr lang="en-IN" sz="1200" dirty="0">
                <a:latin typeface="Times New Roman" panose="02020603050405020304" pitchFamily="18" charset="0"/>
                <a:cs typeface="Times New Roman" panose="02020603050405020304" pitchFamily="18" charset="0"/>
              </a:rPr>
              <a:t>:</a:t>
            </a:r>
          </a:p>
          <a:p>
            <a:pPr algn="just"/>
            <a:r>
              <a:rPr lang="en-IN" sz="1200" dirty="0">
                <a:latin typeface="Times New Roman" panose="02020603050405020304" pitchFamily="18" charset="0"/>
                <a:cs typeface="Times New Roman" panose="02020603050405020304" pitchFamily="18" charset="0"/>
              </a:rPr>
              <a:t>- Scikit-learn, NLTK, SpaCy for preprocessing.</a:t>
            </a:r>
          </a:p>
          <a:p>
            <a:pPr algn="just"/>
            <a:r>
              <a:rPr lang="en-IN" sz="1200" dirty="0">
                <a:latin typeface="Times New Roman" panose="02020603050405020304" pitchFamily="18" charset="0"/>
                <a:cs typeface="Times New Roman" panose="02020603050405020304" pitchFamily="18" charset="0"/>
              </a:rPr>
              <a:t>- Models: Logistic Regression, SVM, LSTM, BERT.</a:t>
            </a:r>
          </a:p>
          <a:p>
            <a:pPr algn="just"/>
            <a:r>
              <a:rPr lang="en-IN" sz="1200" dirty="0">
                <a:latin typeface="Times New Roman" panose="02020603050405020304" pitchFamily="18" charset="0"/>
                <a:cs typeface="Times New Roman" panose="02020603050405020304" pitchFamily="18" charset="0"/>
              </a:rPr>
              <a:t>- Hyperparameter tuning and cross-validation.</a:t>
            </a: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9473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481854" cy="669444"/>
          </a:xfrm>
        </p:spPr>
        <p:txBody>
          <a:bodyPr>
            <a:normAutofit fontScale="90000"/>
          </a:bodyPr>
          <a:lstStyle/>
          <a:p>
            <a:r>
              <a:rPr lang="en-US" sz="3600" b="1" dirty="0">
                <a:solidFill>
                  <a:schemeClr val="tx1"/>
                </a:solidFill>
              </a:rPr>
              <a:t>Module 2</a:t>
            </a:r>
            <a:r>
              <a:rPr lang="en-US" sz="3600" dirty="0">
                <a:solidFill>
                  <a:schemeClr val="tx1"/>
                </a:solidFill>
              </a:rPr>
              <a:t>: Live Twitter Stream Sentiment Monitoring</a:t>
            </a:r>
            <a:br>
              <a:rPr lang="en-US" sz="3600" dirty="0">
                <a:solidFill>
                  <a:schemeClr val="tx1"/>
                </a:solidFill>
              </a:rPr>
            </a:br>
            <a:endParaRPr lang="en-US" sz="3600" dirty="0">
              <a:solidFill>
                <a:schemeClr val="tx1"/>
              </a:solidFill>
            </a:endParaRPr>
          </a:p>
        </p:txBody>
      </p:sp>
      <p:sp>
        <p:nvSpPr>
          <p:cNvPr id="3" name="Content Placeholder 2"/>
          <p:cNvSpPr>
            <a:spLocks noGrp="1"/>
          </p:cNvSpPr>
          <p:nvPr>
            <p:ph idx="1"/>
          </p:nvPr>
        </p:nvSpPr>
        <p:spPr>
          <a:xfrm>
            <a:off x="581192" y="2163437"/>
            <a:ext cx="11029615" cy="4084474"/>
          </a:xfrm>
        </p:spPr>
        <p:txBody>
          <a:bodyPr>
            <a:noAutofit/>
          </a:bodyPr>
          <a:lstStyle/>
          <a:p>
            <a:pPr marL="0" indent="0">
              <a:buNone/>
            </a:pPr>
            <a:r>
              <a:rPr lang="en-IN" sz="1200" dirty="0">
                <a:latin typeface="Times New Roman" panose="02020603050405020304" pitchFamily="18" charset="0"/>
                <a:cs typeface="Times New Roman" panose="02020603050405020304" pitchFamily="18" charset="0"/>
              </a:rPr>
              <a:t>🔹 </a:t>
            </a:r>
            <a:r>
              <a:rPr lang="en-IN" sz="1200" dirty="0" smtClean="0">
                <a:latin typeface="Times New Roman" panose="02020603050405020304" pitchFamily="18" charset="0"/>
                <a:cs typeface="Times New Roman" panose="02020603050405020304" pitchFamily="18" charset="0"/>
              </a:rPr>
              <a:t>Objective: </a:t>
            </a:r>
            <a:r>
              <a:rPr lang="en-IN" sz="1200" dirty="0">
                <a:latin typeface="Times New Roman" panose="02020603050405020304" pitchFamily="18" charset="0"/>
                <a:cs typeface="Times New Roman" panose="02020603050405020304" pitchFamily="18" charset="0"/>
              </a:rPr>
              <a:t>Capture real-time tweets and analyze their sentiment using the classifier.</a:t>
            </a:r>
          </a:p>
          <a:p>
            <a:pPr marL="0" indent="0">
              <a:buNone/>
            </a:pPr>
            <a:r>
              <a:rPr lang="en-IN" sz="1200" b="1" dirty="0" smtClean="0">
                <a:latin typeface="Times New Roman" panose="02020603050405020304" pitchFamily="18" charset="0"/>
                <a:cs typeface="Times New Roman" panose="02020603050405020304" pitchFamily="18" charset="0"/>
              </a:rPr>
              <a:t>🔧 Tasks:</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Set up Twitter API for streaming.</a:t>
            </a:r>
          </a:p>
          <a:p>
            <a:r>
              <a:rPr lang="en-IN" sz="1200" dirty="0">
                <a:latin typeface="Times New Roman" panose="02020603050405020304" pitchFamily="18" charset="0"/>
                <a:cs typeface="Times New Roman" panose="02020603050405020304" pitchFamily="18" charset="0"/>
              </a:rPr>
              <a:t>- Integrate sentiment model.</a:t>
            </a:r>
          </a:p>
          <a:p>
            <a:r>
              <a:rPr lang="en-IN" sz="1200" dirty="0">
                <a:latin typeface="Times New Roman" panose="02020603050405020304" pitchFamily="18" charset="0"/>
                <a:cs typeface="Times New Roman" panose="02020603050405020304" pitchFamily="18" charset="0"/>
              </a:rPr>
              <a:t>- Store and display classified tweets in real-time.</a:t>
            </a:r>
          </a:p>
          <a:p>
            <a:pPr marL="0" indent="0">
              <a:buNone/>
            </a:pPr>
            <a:r>
              <a:rPr lang="en-IN" sz="1200" dirty="0" smtClean="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 Parameters</a:t>
            </a:r>
            <a:r>
              <a:rPr lang="en-IN" sz="1200" b="1" dirty="0" smtClean="0">
                <a:latin typeface="Times New Roman" panose="02020603050405020304" pitchFamily="18" charset="0"/>
                <a:cs typeface="Times New Roman" panose="02020603050405020304" pitchFamily="18" charset="0"/>
              </a:rPr>
              <a:t>:</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API Filters: keywords, hashtags.</a:t>
            </a:r>
          </a:p>
          <a:p>
            <a:r>
              <a:rPr lang="en-IN" sz="1200" dirty="0">
                <a:latin typeface="Times New Roman" panose="02020603050405020304" pitchFamily="18" charset="0"/>
                <a:cs typeface="Times New Roman" panose="02020603050405020304" pitchFamily="18" charset="0"/>
              </a:rPr>
              <a:t>- Streaming parameters: update frequency, tweet count.</a:t>
            </a:r>
          </a:p>
          <a:p>
            <a:r>
              <a:rPr lang="en-IN" sz="1200" dirty="0">
                <a:latin typeface="Times New Roman" panose="02020603050405020304" pitchFamily="18" charset="0"/>
                <a:cs typeface="Times New Roman" panose="02020603050405020304" pitchFamily="18" charset="0"/>
              </a:rPr>
              <a:t>- Output: tweet text, timestamp, sentiment label.</a:t>
            </a:r>
          </a:p>
          <a:p>
            <a:pPr marL="0" indent="0">
              <a:buNone/>
            </a:pPr>
            <a:r>
              <a:rPr lang="en-IN" sz="1200" b="1" dirty="0" smtClean="0">
                <a:latin typeface="Times New Roman" panose="02020603050405020304" pitchFamily="18" charset="0"/>
                <a:cs typeface="Times New Roman" panose="02020603050405020304" pitchFamily="18" charset="0"/>
              </a:rPr>
              <a:t>✅ Outcome:</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Working real-time monitoring system.</a:t>
            </a:r>
          </a:p>
          <a:p>
            <a:r>
              <a:rPr lang="en-IN" sz="1200" dirty="0">
                <a:latin typeface="Times New Roman" panose="02020603050405020304" pitchFamily="18" charset="0"/>
                <a:cs typeface="Times New Roman" panose="02020603050405020304" pitchFamily="18" charset="0"/>
              </a:rPr>
              <a:t>- Stored sentiment-tagged tweets for visualization</a:t>
            </a:r>
            <a:r>
              <a:rPr lang="en-IN" sz="1200" dirty="0" smtClean="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a:p>
            <a:pPr marL="0" indent="0">
              <a:buNone/>
            </a:pPr>
            <a:r>
              <a:rPr lang="en-IN" sz="1200" b="1" dirty="0">
                <a:latin typeface="Times New Roman" panose="02020603050405020304" pitchFamily="18" charset="0"/>
                <a:cs typeface="Times New Roman" panose="02020603050405020304" pitchFamily="18" charset="0"/>
              </a:rPr>
              <a:t>🛠 Techniques</a:t>
            </a:r>
            <a:r>
              <a:rPr lang="en-IN" sz="1200" b="1" dirty="0" smtClean="0">
                <a:latin typeface="Times New Roman" panose="02020603050405020304" pitchFamily="18" charset="0"/>
                <a:cs typeface="Times New Roman" panose="02020603050405020304" pitchFamily="18" charset="0"/>
              </a:rPr>
              <a:t>:</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Tweepy, Twitter API v2.</a:t>
            </a:r>
          </a:p>
          <a:p>
            <a:r>
              <a:rPr lang="en-IN" sz="1200" dirty="0">
                <a:latin typeface="Times New Roman" panose="02020603050405020304" pitchFamily="18" charset="0"/>
                <a:cs typeface="Times New Roman" panose="02020603050405020304" pitchFamily="18" charset="0"/>
              </a:rPr>
              <a:t>- Backend: Flask, Streamlit.</a:t>
            </a:r>
          </a:p>
          <a:p>
            <a:r>
              <a:rPr lang="en-IN" sz="1200" dirty="0">
                <a:latin typeface="Times New Roman" panose="02020603050405020304" pitchFamily="18" charset="0"/>
                <a:cs typeface="Times New Roman" panose="02020603050405020304" pitchFamily="18" charset="0"/>
              </a:rPr>
              <a:t>- Storage: MongoDB, Firebase.</a:t>
            </a: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207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chemeClr val="tx1"/>
                </a:solidFill>
              </a:rPr>
              <a:t>Module 3</a:t>
            </a:r>
            <a:r>
              <a:rPr lang="en-US" sz="3600" dirty="0">
                <a:solidFill>
                  <a:schemeClr val="tx1"/>
                </a:solidFill>
              </a:rPr>
              <a:t>: Topic Modeling and Sentiment Correlation</a:t>
            </a:r>
            <a:endParaRPr lang="en-IN" sz="3600" dirty="0">
              <a:solidFill>
                <a:schemeClr val="tx1"/>
              </a:solidFill>
            </a:endParaRPr>
          </a:p>
        </p:txBody>
      </p:sp>
      <p:sp>
        <p:nvSpPr>
          <p:cNvPr id="3" name="Content Placeholder 2"/>
          <p:cNvSpPr>
            <a:spLocks noGrp="1"/>
          </p:cNvSpPr>
          <p:nvPr>
            <p:ph idx="1"/>
          </p:nvPr>
        </p:nvSpPr>
        <p:spPr>
          <a:xfrm>
            <a:off x="581193" y="2119476"/>
            <a:ext cx="11029615" cy="4079101"/>
          </a:xfrm>
        </p:spPr>
        <p:txBody>
          <a:bodyPr>
            <a:noAutofit/>
          </a:bodyPr>
          <a:lstStyle/>
          <a:p>
            <a:pPr marL="0" indent="0">
              <a:buNone/>
            </a:pPr>
            <a:r>
              <a:rPr lang="en-IN" sz="1200" dirty="0">
                <a:latin typeface="Times New Roman" panose="02020603050405020304" pitchFamily="18" charset="0"/>
                <a:cs typeface="Times New Roman" panose="02020603050405020304" pitchFamily="18" charset="0"/>
              </a:rPr>
              <a:t>🔹 </a:t>
            </a:r>
            <a:r>
              <a:rPr lang="en-IN" sz="1200" dirty="0" smtClean="0">
                <a:latin typeface="Times New Roman" panose="02020603050405020304" pitchFamily="18" charset="0"/>
                <a:cs typeface="Times New Roman" panose="02020603050405020304" pitchFamily="18" charset="0"/>
              </a:rPr>
              <a:t>Objective: </a:t>
            </a:r>
            <a:r>
              <a:rPr lang="en-IN" sz="1200" dirty="0">
                <a:latin typeface="Times New Roman" panose="02020603050405020304" pitchFamily="18" charset="0"/>
                <a:cs typeface="Times New Roman" panose="02020603050405020304" pitchFamily="18" charset="0"/>
              </a:rPr>
              <a:t>Discover trending topics and correlate them with sentiment trends.</a:t>
            </a:r>
          </a:p>
          <a:p>
            <a:pPr marL="0" indent="0">
              <a:buNone/>
            </a:pPr>
            <a:r>
              <a:rPr lang="en-IN" sz="1200" b="1" dirty="0" smtClean="0">
                <a:latin typeface="Times New Roman" panose="02020603050405020304" pitchFamily="18" charset="0"/>
                <a:cs typeface="Times New Roman" panose="02020603050405020304" pitchFamily="18" charset="0"/>
              </a:rPr>
              <a:t>🔧 Tasks:</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Apply topic modeling to collected tweets.</a:t>
            </a:r>
          </a:p>
          <a:p>
            <a:r>
              <a:rPr lang="en-IN" sz="1200" dirty="0">
                <a:latin typeface="Times New Roman" panose="02020603050405020304" pitchFamily="18" charset="0"/>
                <a:cs typeface="Times New Roman" panose="02020603050405020304" pitchFamily="18" charset="0"/>
              </a:rPr>
              <a:t>- Correlate topics with sentiment trends over time.</a:t>
            </a:r>
          </a:p>
          <a:p>
            <a:r>
              <a:rPr lang="en-IN" sz="1200" dirty="0">
                <a:latin typeface="Times New Roman" panose="02020603050405020304" pitchFamily="18" charset="0"/>
                <a:cs typeface="Times New Roman" panose="02020603050405020304" pitchFamily="18" charset="0"/>
              </a:rPr>
              <a:t>- Visualize trends in an interactive dashboard.</a:t>
            </a:r>
          </a:p>
          <a:p>
            <a:pPr marL="0" indent="0">
              <a:buNone/>
            </a:pPr>
            <a:r>
              <a:rPr lang="en-IN" sz="1200" b="1" dirty="0" smtClean="0">
                <a:latin typeface="Times New Roman" panose="02020603050405020304" pitchFamily="18" charset="0"/>
                <a:cs typeface="Times New Roman" panose="02020603050405020304" pitchFamily="18" charset="0"/>
              </a:rPr>
              <a:t>📊 Parameters:</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Modeling: number of topics, coherence threshold.</a:t>
            </a:r>
          </a:p>
          <a:p>
            <a:r>
              <a:rPr lang="en-IN" sz="1200" dirty="0">
                <a:latin typeface="Times New Roman" panose="02020603050405020304" pitchFamily="18" charset="0"/>
                <a:cs typeface="Times New Roman" panose="02020603050405020304" pitchFamily="18" charset="0"/>
              </a:rPr>
              <a:t>- Time granularity: hourly/daily.</a:t>
            </a:r>
          </a:p>
          <a:p>
            <a:r>
              <a:rPr lang="en-IN" sz="1200" dirty="0">
                <a:latin typeface="Times New Roman" panose="02020603050405020304" pitchFamily="18" charset="0"/>
                <a:cs typeface="Times New Roman" panose="02020603050405020304" pitchFamily="18" charset="0"/>
              </a:rPr>
              <a:t>- Sentiment-topic correlation metrics.</a:t>
            </a:r>
          </a:p>
          <a:p>
            <a:pPr marL="0" indent="0">
              <a:buNone/>
            </a:pPr>
            <a:r>
              <a:rPr lang="en-IN" sz="1200" b="1" dirty="0" smtClean="0">
                <a:latin typeface="Times New Roman" panose="02020603050405020304" pitchFamily="18" charset="0"/>
                <a:cs typeface="Times New Roman" panose="02020603050405020304" pitchFamily="18" charset="0"/>
              </a:rPr>
              <a:t>✅ Outcome:</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List of trending topics with sentiment associations.</a:t>
            </a:r>
          </a:p>
          <a:p>
            <a:r>
              <a:rPr lang="en-IN" sz="1200" dirty="0">
                <a:latin typeface="Times New Roman" panose="02020603050405020304" pitchFamily="18" charset="0"/>
                <a:cs typeface="Times New Roman" panose="02020603050405020304" pitchFamily="18" charset="0"/>
              </a:rPr>
              <a:t>- Graphs and dashboards showing sentiment trends.</a:t>
            </a:r>
          </a:p>
          <a:p>
            <a:pPr marL="0" indent="0">
              <a:buNone/>
            </a:pPr>
            <a:r>
              <a:rPr lang="en-IN" sz="1200" b="1" dirty="0" smtClean="0">
                <a:latin typeface="Times New Roman" panose="02020603050405020304" pitchFamily="18" charset="0"/>
                <a:cs typeface="Times New Roman" panose="02020603050405020304" pitchFamily="18" charset="0"/>
              </a:rPr>
              <a:t>🛠Techniques:</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 LDA, BERTopic for topic modeling.</a:t>
            </a:r>
          </a:p>
          <a:p>
            <a:r>
              <a:rPr lang="en-IN" sz="1200" dirty="0">
                <a:latin typeface="Times New Roman" panose="02020603050405020304" pitchFamily="18" charset="0"/>
                <a:cs typeface="Times New Roman" panose="02020603050405020304" pitchFamily="18" charset="0"/>
              </a:rPr>
              <a:t>- Plotly, Dash, D3.js for visualization.</a:t>
            </a:r>
          </a:p>
          <a:p>
            <a:r>
              <a:rPr lang="en-IN" sz="1200" dirty="0">
                <a:latin typeface="Times New Roman" panose="02020603050405020304" pitchFamily="18" charset="0"/>
                <a:cs typeface="Times New Roman" panose="02020603050405020304" pitchFamily="18" charset="0"/>
              </a:rPr>
              <a:t>- Flask/</a:t>
            </a:r>
            <a:r>
              <a:rPr lang="en-IN" sz="1200" dirty="0" err="1">
                <a:latin typeface="Times New Roman" panose="02020603050405020304" pitchFamily="18" charset="0"/>
                <a:cs typeface="Times New Roman" panose="02020603050405020304" pitchFamily="18" charset="0"/>
              </a:rPr>
              <a:t>Streamlit</a:t>
            </a:r>
            <a:r>
              <a:rPr lang="en-IN" sz="1200" dirty="0">
                <a:latin typeface="Times New Roman" panose="02020603050405020304" pitchFamily="18" charset="0"/>
                <a:cs typeface="Times New Roman" panose="02020603050405020304" pitchFamily="18" charset="0"/>
              </a:rPr>
              <a:t> for dashboard deployment.</a:t>
            </a: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043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41F9-7D13-4D21-A010-46E29F1F62EF}"/>
              </a:ext>
            </a:extLst>
          </p:cNvPr>
          <p:cNvSpPr>
            <a:spLocks noGrp="1"/>
          </p:cNvSpPr>
          <p:nvPr>
            <p:ph type="title"/>
          </p:nvPr>
        </p:nvSpPr>
        <p:spPr/>
        <p:txBody>
          <a:bodyPr/>
          <a:lstStyle/>
          <a:p>
            <a:r>
              <a:rPr lang="en-US" b="1" dirty="0" smtClean="0"/>
              <a:t>Main packages using in tweet pulse</a:t>
            </a:r>
            <a:endParaRPr lang="en-US" b="1" dirty="0"/>
          </a:p>
        </p:txBody>
      </p:sp>
      <p:graphicFrame>
        <p:nvGraphicFramePr>
          <p:cNvPr id="19" name="Table 4">
            <a:extLst>
              <a:ext uri="{FF2B5EF4-FFF2-40B4-BE49-F238E27FC236}">
                <a16:creationId xmlns:a16="http://schemas.microsoft.com/office/drawing/2014/main" id="{AA5C8701-F5AC-465B-A671-050D083A8CB7}"/>
              </a:ext>
            </a:extLst>
          </p:cNvPr>
          <p:cNvGraphicFramePr>
            <a:graphicFrameLocks noGrp="1"/>
          </p:cNvGraphicFramePr>
          <p:nvPr>
            <p:ph idx="1"/>
            <p:extLst>
              <p:ext uri="{D42A27DB-BD31-4B8C-83A1-F6EECF244321}">
                <p14:modId xmlns:p14="http://schemas.microsoft.com/office/powerpoint/2010/main" val="4067447423"/>
              </p:ext>
            </p:extLst>
          </p:nvPr>
        </p:nvGraphicFramePr>
        <p:xfrm>
          <a:off x="890954" y="1593000"/>
          <a:ext cx="10029093" cy="4578607"/>
        </p:xfrm>
        <a:graphic>
          <a:graphicData uri="http://schemas.openxmlformats.org/drawingml/2006/table">
            <a:tbl>
              <a:tblPr firstRow="1" bandRow="1">
                <a:tableStyleId>{9D7B26C5-4107-4FEC-AEDC-1716B250A1EF}</a:tableStyleId>
              </a:tblPr>
              <a:tblGrid>
                <a:gridCol w="3343031">
                  <a:extLst>
                    <a:ext uri="{9D8B030D-6E8A-4147-A177-3AD203B41FA5}">
                      <a16:colId xmlns:a16="http://schemas.microsoft.com/office/drawing/2014/main" val="3628234326"/>
                    </a:ext>
                  </a:extLst>
                </a:gridCol>
                <a:gridCol w="3343031">
                  <a:extLst>
                    <a:ext uri="{9D8B030D-6E8A-4147-A177-3AD203B41FA5}">
                      <a16:colId xmlns:a16="http://schemas.microsoft.com/office/drawing/2014/main" val="1083199451"/>
                    </a:ext>
                  </a:extLst>
                </a:gridCol>
                <a:gridCol w="3343031">
                  <a:extLst>
                    <a:ext uri="{9D8B030D-6E8A-4147-A177-3AD203B41FA5}">
                      <a16:colId xmlns:a16="http://schemas.microsoft.com/office/drawing/2014/main" val="1334118722"/>
                    </a:ext>
                  </a:extLst>
                </a:gridCol>
              </a:tblGrid>
              <a:tr h="908079">
                <a:tc>
                  <a:txBody>
                    <a:bodyPr/>
                    <a:lstStyle/>
                    <a:p>
                      <a:pPr algn="ctr"/>
                      <a:r>
                        <a:rPr lang="en-US" sz="2400" b="1" cap="all" spc="150" dirty="0" smtClean="0"/>
                        <a:t>Module</a:t>
                      </a:r>
                      <a:r>
                        <a:rPr lang="en-US" sz="2400" b="1" cap="all" spc="150" baseline="0" dirty="0" smtClean="0"/>
                        <a:t> 1</a:t>
                      </a:r>
                      <a:endParaRPr lang="en-US" sz="2400" b="1" cap="all" spc="150" dirty="0">
                        <a:solidFill>
                          <a:schemeClr val="lt1"/>
                        </a:solidFill>
                      </a:endParaRPr>
                    </a:p>
                  </a:txBody>
                  <a:tcPr marL="224212" marR="224212" marT="224212" marB="224212">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cap="all" spc="150" dirty="0" smtClean="0">
                          <a:solidFill>
                            <a:schemeClr val="tx1"/>
                          </a:solidFill>
                        </a:rPr>
                        <a:t>Module</a:t>
                      </a:r>
                      <a:r>
                        <a:rPr lang="en-US" sz="2400" b="1" cap="all" spc="150" baseline="0" dirty="0" smtClean="0">
                          <a:solidFill>
                            <a:schemeClr val="tx1"/>
                          </a:solidFill>
                        </a:rPr>
                        <a:t> 2</a:t>
                      </a:r>
                      <a:endParaRPr lang="en-US" sz="2400" b="1" cap="all" spc="150" dirty="0">
                        <a:solidFill>
                          <a:schemeClr val="lt1"/>
                        </a:solidFill>
                      </a:endParaRPr>
                    </a:p>
                  </a:txBody>
                  <a:tcPr marL="224212" marR="224212" marT="224212" marB="224212">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cap="all" spc="150" dirty="0" smtClean="0"/>
                        <a:t>Module 3</a:t>
                      </a:r>
                      <a:endParaRPr lang="en-US" sz="2400" b="1" cap="all" spc="150" dirty="0">
                        <a:solidFill>
                          <a:schemeClr val="lt1"/>
                        </a:solidFill>
                      </a:endParaRPr>
                    </a:p>
                  </a:txBody>
                  <a:tcPr marL="224212" marR="224212" marT="224212" marB="224212">
                    <a:lnT w="12700" cap="flat" cmpd="sng" algn="ctr">
                      <a:noFill/>
                      <a:prstDash val="solid"/>
                      <a:round/>
                      <a:headEnd type="none" w="med" len="med"/>
                      <a:tailEnd type="none" w="med" len="med"/>
                    </a:lnT>
                  </a:tcPr>
                </a:tc>
                <a:extLst>
                  <a:ext uri="{0D108BD9-81ED-4DB2-BD59-A6C34878D82A}">
                    <a16:rowId xmlns:a16="http://schemas.microsoft.com/office/drawing/2014/main" val="4160608299"/>
                  </a:ext>
                </a:extLst>
              </a:tr>
              <a:tr h="833237">
                <a:tc>
                  <a:txBody>
                    <a:bodyPr/>
                    <a:lstStyle/>
                    <a:p>
                      <a:r>
                        <a:rPr lang="en-IN" sz="1400" b="1" i="0" kern="1200" dirty="0" smtClean="0">
                          <a:solidFill>
                            <a:schemeClr val="tx1"/>
                          </a:solidFill>
                          <a:effectLst/>
                          <a:latin typeface="+mn-lt"/>
                          <a:ea typeface="+mn-ea"/>
                          <a:cs typeface="+mn-cs"/>
                        </a:rPr>
                        <a:t>TextBlob / VADER (NLTK)</a:t>
                      </a:r>
                      <a:r>
                        <a:rPr lang="en-IN" sz="1400" b="0" i="0" kern="1200" dirty="0" smtClean="0">
                          <a:solidFill>
                            <a:schemeClr val="tx1"/>
                          </a:solidFill>
                          <a:effectLst/>
                          <a:latin typeface="+mn-lt"/>
                          <a:ea typeface="+mn-ea"/>
                          <a:cs typeface="+mn-cs"/>
                        </a:rPr>
                        <a:t> – for sentiment analysis (positive, negative, neutral classification)</a:t>
                      </a:r>
                    </a:p>
                    <a:p>
                      <a:endParaRPr lang="en-IN" sz="1400" b="0" i="0" kern="1200" dirty="0" smtClean="0">
                        <a:solidFill>
                          <a:schemeClr val="tx1"/>
                        </a:solidFill>
                        <a:effectLst/>
                        <a:latin typeface="+mn-lt"/>
                        <a:ea typeface="+mn-ea"/>
                        <a:cs typeface="+mn-cs"/>
                      </a:endParaRPr>
                    </a:p>
                    <a:p>
                      <a:r>
                        <a:rPr lang="en-IN" sz="1400" b="1" i="0" kern="1200" dirty="0" smtClean="0">
                          <a:solidFill>
                            <a:schemeClr val="tx1"/>
                          </a:solidFill>
                          <a:effectLst/>
                          <a:latin typeface="+mn-lt"/>
                          <a:ea typeface="+mn-ea"/>
                          <a:cs typeface="+mn-cs"/>
                        </a:rPr>
                        <a:t>Scikit-learn</a:t>
                      </a:r>
                      <a:r>
                        <a:rPr lang="en-IN" sz="1400" b="0" i="0" kern="1200" dirty="0" smtClean="0">
                          <a:solidFill>
                            <a:schemeClr val="tx1"/>
                          </a:solidFill>
                          <a:effectLst/>
                          <a:latin typeface="+mn-lt"/>
                          <a:ea typeface="+mn-ea"/>
                          <a:cs typeface="+mn-cs"/>
                        </a:rPr>
                        <a:t> – for custom model building and classification (e.g., Naive Bayes, SVM)</a:t>
                      </a:r>
                      <a:endParaRPr lang="en-IN" sz="1400" b="0" i="0" kern="1200" dirty="0">
                        <a:solidFill>
                          <a:schemeClr val="tx1"/>
                        </a:solidFill>
                        <a:effectLst/>
                        <a:latin typeface="+mn-lt"/>
                        <a:ea typeface="+mn-ea"/>
                        <a:cs typeface="+mn-cs"/>
                      </a:endParaRPr>
                    </a:p>
                  </a:txBody>
                  <a:tcPr marL="224212" marR="224212" marT="224212" marB="224212">
                    <a:solidFill>
                      <a:schemeClr val="tx2">
                        <a:lumMod val="40000"/>
                        <a:lumOff val="60000"/>
                        <a:alpha val="20000"/>
                      </a:schemeClr>
                    </a:solidFill>
                  </a:tcPr>
                </a:tc>
                <a:tc>
                  <a:txBody>
                    <a:bodyPr/>
                    <a:lstStyle/>
                    <a:p>
                      <a:r>
                        <a:rPr lang="en-US" sz="1400" b="1" i="0" kern="1200" dirty="0" smtClean="0">
                          <a:solidFill>
                            <a:schemeClr val="tx1"/>
                          </a:solidFill>
                          <a:effectLst/>
                          <a:latin typeface="+mn-lt"/>
                          <a:ea typeface="+mn-ea"/>
                          <a:cs typeface="+mn-cs"/>
                        </a:rPr>
                        <a:t>Tweepy</a:t>
                      </a:r>
                      <a:r>
                        <a:rPr lang="en-US" sz="1400" b="0" i="0" kern="1200" dirty="0" smtClean="0">
                          <a:solidFill>
                            <a:schemeClr val="tx1"/>
                          </a:solidFill>
                          <a:effectLst/>
                          <a:latin typeface="+mn-lt"/>
                          <a:ea typeface="+mn-ea"/>
                          <a:cs typeface="+mn-cs"/>
                        </a:rPr>
                        <a:t> – to connect to Twitter API and stream tweets in real-time</a:t>
                      </a:r>
                    </a:p>
                    <a:p>
                      <a:endParaRPr lang="en-US" sz="1400" b="0" i="0" kern="1200" dirty="0" smtClean="0">
                        <a:solidFill>
                          <a:schemeClr val="tx1"/>
                        </a:solidFill>
                        <a:effectLst/>
                        <a:latin typeface="+mn-lt"/>
                        <a:ea typeface="+mn-ea"/>
                        <a:cs typeface="+mn-cs"/>
                      </a:endParaRPr>
                    </a:p>
                    <a:p>
                      <a:r>
                        <a:rPr lang="en-US" sz="1400" b="1" i="0" kern="1200" dirty="0" smtClean="0">
                          <a:solidFill>
                            <a:schemeClr val="tx1"/>
                          </a:solidFill>
                          <a:effectLst/>
                          <a:latin typeface="+mn-lt"/>
                          <a:ea typeface="+mn-ea"/>
                          <a:cs typeface="+mn-cs"/>
                        </a:rPr>
                        <a:t>TextBlob / VADER</a:t>
                      </a:r>
                      <a:r>
                        <a:rPr lang="en-US" sz="1400" b="0" i="0" kern="1200" dirty="0" smtClean="0">
                          <a:solidFill>
                            <a:schemeClr val="tx1"/>
                          </a:solidFill>
                          <a:effectLst/>
                          <a:latin typeface="+mn-lt"/>
                          <a:ea typeface="+mn-ea"/>
                          <a:cs typeface="+mn-cs"/>
                        </a:rPr>
                        <a:t> – for real-time sentiment classification</a:t>
                      </a:r>
                    </a:p>
                    <a:p>
                      <a:r>
                        <a:rPr lang="en-US" sz="1400" dirty="0" smtClean="0"/>
                        <a:t/>
                      </a:r>
                      <a:br>
                        <a:rPr lang="en-US" sz="1400" dirty="0" smtClean="0"/>
                      </a:br>
                      <a:endParaRPr lang="en-US" sz="1400" b="0" cap="none" spc="0" dirty="0">
                        <a:solidFill>
                          <a:schemeClr val="tx1"/>
                        </a:solidFill>
                      </a:endParaRPr>
                    </a:p>
                  </a:txBody>
                  <a:tcPr marL="224212" marR="224212" marT="224212" marB="224212">
                    <a:solidFill>
                      <a:schemeClr val="tx2">
                        <a:lumMod val="40000"/>
                        <a:lumOff val="60000"/>
                        <a:alpha val="20000"/>
                      </a:schemeClr>
                    </a:solidFill>
                  </a:tcPr>
                </a:tc>
                <a:tc>
                  <a:txBody>
                    <a:bodyPr/>
                    <a:lstStyle/>
                    <a:p>
                      <a:r>
                        <a:rPr lang="en-IN" sz="1400" b="1" i="0" kern="1200" dirty="0" smtClean="0">
                          <a:solidFill>
                            <a:schemeClr val="tx1"/>
                          </a:solidFill>
                          <a:effectLst/>
                          <a:latin typeface="+mn-lt"/>
                          <a:ea typeface="+mn-ea"/>
                          <a:cs typeface="+mn-cs"/>
                        </a:rPr>
                        <a:t>Gensim</a:t>
                      </a:r>
                      <a:r>
                        <a:rPr lang="en-IN" sz="1400" b="0" i="0" kern="1200" dirty="0" smtClean="0">
                          <a:solidFill>
                            <a:schemeClr val="tx1"/>
                          </a:solidFill>
                          <a:effectLst/>
                          <a:latin typeface="+mn-lt"/>
                          <a:ea typeface="+mn-ea"/>
                          <a:cs typeface="+mn-cs"/>
                        </a:rPr>
                        <a:t> – for topic modeling (e.g., LDA – Latent Dirichlet Allocation)</a:t>
                      </a:r>
                    </a:p>
                    <a:p>
                      <a:endParaRPr lang="en-IN" sz="1400" b="0" i="0" kern="1200" dirty="0" smtClean="0">
                        <a:solidFill>
                          <a:schemeClr val="tx1"/>
                        </a:solidFill>
                        <a:effectLst/>
                        <a:latin typeface="+mn-lt"/>
                        <a:ea typeface="+mn-ea"/>
                        <a:cs typeface="+mn-cs"/>
                      </a:endParaRPr>
                    </a:p>
                    <a:p>
                      <a:r>
                        <a:rPr lang="en-IN" sz="1400" b="1" i="0" kern="1200" dirty="0" smtClean="0">
                          <a:solidFill>
                            <a:schemeClr val="tx1"/>
                          </a:solidFill>
                          <a:effectLst/>
                          <a:latin typeface="+mn-lt"/>
                          <a:ea typeface="+mn-ea"/>
                          <a:cs typeface="+mn-cs"/>
                        </a:rPr>
                        <a:t>TextBlob / VADER</a:t>
                      </a:r>
                      <a:r>
                        <a:rPr lang="en-IN" sz="1400" b="0" i="0" kern="1200" dirty="0" smtClean="0">
                          <a:solidFill>
                            <a:schemeClr val="tx1"/>
                          </a:solidFill>
                          <a:effectLst/>
                          <a:latin typeface="+mn-lt"/>
                          <a:ea typeface="+mn-ea"/>
                          <a:cs typeface="+mn-cs"/>
                        </a:rPr>
                        <a:t> – to analyze sentiment of each topic</a:t>
                      </a:r>
                    </a:p>
                    <a:p>
                      <a:endParaRPr lang="en-IN" sz="1400" b="0" i="0" kern="1200" dirty="0">
                        <a:solidFill>
                          <a:schemeClr val="tx1"/>
                        </a:solidFill>
                        <a:effectLst/>
                        <a:latin typeface="+mn-lt"/>
                        <a:ea typeface="+mn-ea"/>
                        <a:cs typeface="+mn-cs"/>
                      </a:endParaRPr>
                    </a:p>
                  </a:txBody>
                  <a:tcPr marL="224212" marR="224212" marT="224212" marB="224212">
                    <a:solidFill>
                      <a:schemeClr val="tx2">
                        <a:lumMod val="40000"/>
                        <a:lumOff val="60000"/>
                        <a:alpha val="20000"/>
                      </a:schemeClr>
                    </a:solidFill>
                  </a:tcPr>
                </a:tc>
                <a:extLst>
                  <a:ext uri="{0D108BD9-81ED-4DB2-BD59-A6C34878D82A}">
                    <a16:rowId xmlns:a16="http://schemas.microsoft.com/office/drawing/2014/main" val="3947518332"/>
                  </a:ext>
                </a:extLst>
              </a:tr>
              <a:tr h="833237">
                <a:tc>
                  <a:txBody>
                    <a:bodyPr/>
                    <a:lstStyle/>
                    <a:p>
                      <a:r>
                        <a:rPr lang="en-IN" sz="1400" b="1" i="0" kern="1200" dirty="0" smtClean="0">
                          <a:solidFill>
                            <a:schemeClr val="tx1"/>
                          </a:solidFill>
                          <a:effectLst/>
                          <a:latin typeface="+mn-lt"/>
                          <a:ea typeface="+mn-ea"/>
                          <a:cs typeface="+mn-cs"/>
                        </a:rPr>
                        <a:t>Pandas</a:t>
                      </a:r>
                      <a:r>
                        <a:rPr lang="en-IN" sz="1400" b="0" i="0" kern="1200" dirty="0" smtClean="0">
                          <a:solidFill>
                            <a:schemeClr val="tx1"/>
                          </a:solidFill>
                          <a:effectLst/>
                          <a:latin typeface="+mn-lt"/>
                          <a:ea typeface="+mn-ea"/>
                          <a:cs typeface="+mn-cs"/>
                        </a:rPr>
                        <a:t> – for dataset handling</a:t>
                      </a:r>
                    </a:p>
                    <a:p>
                      <a:endParaRPr lang="en-IN" sz="1400" b="0" i="0" kern="1200" dirty="0" smtClean="0">
                        <a:solidFill>
                          <a:schemeClr val="tx1"/>
                        </a:solidFill>
                        <a:effectLst/>
                        <a:latin typeface="+mn-lt"/>
                        <a:ea typeface="+mn-ea"/>
                        <a:cs typeface="+mn-cs"/>
                      </a:endParaRPr>
                    </a:p>
                    <a:p>
                      <a:r>
                        <a:rPr lang="en-IN" sz="1400" b="1" i="0" kern="1200" dirty="0" smtClean="0">
                          <a:solidFill>
                            <a:schemeClr val="tx1"/>
                          </a:solidFill>
                          <a:effectLst/>
                          <a:latin typeface="+mn-lt"/>
                          <a:ea typeface="+mn-ea"/>
                          <a:cs typeface="+mn-cs"/>
                        </a:rPr>
                        <a:t>NLTK / SpaCy</a:t>
                      </a:r>
                      <a:r>
                        <a:rPr lang="en-IN" sz="1400" b="0" i="0" kern="1200" dirty="0" smtClean="0">
                          <a:solidFill>
                            <a:schemeClr val="tx1"/>
                          </a:solidFill>
                          <a:effectLst/>
                          <a:latin typeface="+mn-lt"/>
                          <a:ea typeface="+mn-ea"/>
                          <a:cs typeface="+mn-cs"/>
                        </a:rPr>
                        <a:t> – for text preprocessing (tokenization, stopword removal)</a:t>
                      </a:r>
                    </a:p>
                    <a:p>
                      <a:r>
                        <a:rPr lang="en-IN" sz="1400" dirty="0" smtClean="0"/>
                        <a:t/>
                      </a:r>
                      <a:br>
                        <a:rPr lang="en-IN" sz="1400" dirty="0" smtClean="0"/>
                      </a:br>
                      <a:endParaRPr lang="en-US" sz="1400" b="0" cap="none" spc="0" dirty="0">
                        <a:solidFill>
                          <a:schemeClr val="tx1"/>
                        </a:solidFill>
                      </a:endParaRPr>
                    </a:p>
                  </a:txBody>
                  <a:tcPr marL="224212" marR="224212" marT="224212" marB="224212">
                    <a:lnB w="12700" cap="flat" cmpd="sng" algn="ctr">
                      <a:noFill/>
                      <a:prstDash val="solid"/>
                      <a:round/>
                      <a:headEnd type="none" w="med" len="med"/>
                      <a:tailEnd type="none" w="med" len="med"/>
                    </a:lnB>
                  </a:tcPr>
                </a:tc>
                <a:tc>
                  <a:txBody>
                    <a:bodyPr/>
                    <a:lstStyle/>
                    <a:p>
                      <a:r>
                        <a:rPr lang="en-US" sz="1400" b="1" i="0" kern="1200" dirty="0" smtClean="0">
                          <a:solidFill>
                            <a:schemeClr val="tx1"/>
                          </a:solidFill>
                          <a:effectLst/>
                          <a:latin typeface="+mn-lt"/>
                          <a:ea typeface="+mn-ea"/>
                          <a:cs typeface="+mn-cs"/>
                        </a:rPr>
                        <a:t>Streamlit / Dash</a:t>
                      </a:r>
                      <a:r>
                        <a:rPr lang="en-US" sz="1400" b="0" i="0" kern="1200" dirty="0" smtClean="0">
                          <a:solidFill>
                            <a:schemeClr val="tx1"/>
                          </a:solidFill>
                          <a:effectLst/>
                          <a:latin typeface="+mn-lt"/>
                          <a:ea typeface="+mn-ea"/>
                          <a:cs typeface="+mn-cs"/>
                        </a:rPr>
                        <a:t> – to show live sentiment changes in a dashboard</a:t>
                      </a:r>
                    </a:p>
                    <a:p>
                      <a:endParaRPr lang="en-US" sz="1400" b="0" i="0" kern="1200" dirty="0" smtClean="0">
                        <a:solidFill>
                          <a:schemeClr val="tx1"/>
                        </a:solidFill>
                        <a:effectLst/>
                        <a:latin typeface="+mn-lt"/>
                        <a:ea typeface="+mn-ea"/>
                        <a:cs typeface="+mn-cs"/>
                      </a:endParaRPr>
                    </a:p>
                    <a:p>
                      <a:r>
                        <a:rPr lang="en-US" sz="1400" b="1" i="0" kern="1200" dirty="0" smtClean="0">
                          <a:solidFill>
                            <a:schemeClr val="tx1"/>
                          </a:solidFill>
                          <a:effectLst/>
                          <a:latin typeface="+mn-lt"/>
                          <a:ea typeface="+mn-ea"/>
                          <a:cs typeface="+mn-cs"/>
                        </a:rPr>
                        <a:t>Pandas</a:t>
                      </a:r>
                      <a:r>
                        <a:rPr lang="en-US" sz="1400" b="0" i="0" kern="1200" dirty="0" smtClean="0">
                          <a:solidFill>
                            <a:schemeClr val="tx1"/>
                          </a:solidFill>
                          <a:effectLst/>
                          <a:latin typeface="+mn-lt"/>
                          <a:ea typeface="+mn-ea"/>
                          <a:cs typeface="+mn-cs"/>
                        </a:rPr>
                        <a:t> – for structuring the streamed data</a:t>
                      </a:r>
                    </a:p>
                  </a:txBody>
                  <a:tcPr marL="224212" marR="224212" marT="224212" marB="224212">
                    <a:lnB w="12700" cap="flat" cmpd="sng" algn="ctr">
                      <a:noFill/>
                      <a:prstDash val="solid"/>
                      <a:round/>
                      <a:headEnd type="none" w="med" len="med"/>
                      <a:tailEnd type="none" w="med" len="med"/>
                    </a:lnB>
                  </a:tcPr>
                </a:tc>
                <a:tc>
                  <a:txBody>
                    <a:bodyPr/>
                    <a:lstStyle/>
                    <a:p>
                      <a:r>
                        <a:rPr lang="en-US" sz="1400" b="1" i="0" kern="1200" dirty="0" smtClean="0">
                          <a:solidFill>
                            <a:schemeClr val="tx1"/>
                          </a:solidFill>
                          <a:effectLst/>
                          <a:latin typeface="+mn-lt"/>
                          <a:ea typeface="+mn-ea"/>
                          <a:cs typeface="+mn-cs"/>
                        </a:rPr>
                        <a:t>Matplotlib / Seaborn / Plotly</a:t>
                      </a:r>
                      <a:r>
                        <a:rPr lang="en-US" sz="1400" b="0" i="0" kern="1200" dirty="0" smtClean="0">
                          <a:solidFill>
                            <a:schemeClr val="tx1"/>
                          </a:solidFill>
                          <a:effectLst/>
                          <a:latin typeface="+mn-lt"/>
                          <a:ea typeface="+mn-ea"/>
                          <a:cs typeface="+mn-cs"/>
                        </a:rPr>
                        <a:t> – to visualize sentiment-topic relations</a:t>
                      </a:r>
                    </a:p>
                    <a:p>
                      <a:r>
                        <a:rPr lang="en-US" sz="1400" dirty="0" smtClean="0"/>
                        <a:t/>
                      </a:r>
                      <a:br>
                        <a:rPr lang="en-US" sz="1400" dirty="0" smtClean="0"/>
                      </a:br>
                      <a:endParaRPr lang="en-US" sz="1400" b="0" cap="none" spc="0" dirty="0">
                        <a:solidFill>
                          <a:schemeClr val="tx1"/>
                        </a:solidFill>
                      </a:endParaRPr>
                    </a:p>
                  </a:txBody>
                  <a:tcPr marL="224212" marR="224212" marT="224212" marB="224212">
                    <a:lnB w="12700" cap="flat" cmpd="sng" algn="ctr">
                      <a:noFill/>
                      <a:prstDash val="solid"/>
                      <a:round/>
                      <a:headEnd type="none" w="med" len="med"/>
                      <a:tailEnd type="none" w="med" len="med"/>
                    </a:lnB>
                  </a:tcPr>
                </a:tc>
                <a:extLst>
                  <a:ext uri="{0D108BD9-81ED-4DB2-BD59-A6C34878D82A}">
                    <a16:rowId xmlns:a16="http://schemas.microsoft.com/office/drawing/2014/main" val="1445241155"/>
                  </a:ext>
                </a:extLst>
              </a:tr>
            </a:tbl>
          </a:graphicData>
        </a:graphic>
      </p:graphicFrame>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941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E x p e c t e d</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o u t c o m e s</a:t>
            </a:r>
            <a:endParaRPr lang="en-IN"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normAutofit/>
          </a:bodyPr>
          <a:lstStyle/>
          <a:p>
            <a:pPr>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Identification of trending topics and public </a:t>
            </a:r>
            <a:r>
              <a:rPr lang="en-US" sz="2000" dirty="0" smtClean="0">
                <a:latin typeface="Times New Roman" panose="02020603050405020304" pitchFamily="18" charset="0"/>
                <a:cs typeface="Times New Roman" panose="02020603050405020304" pitchFamily="18" charset="0"/>
              </a:rPr>
              <a:t>sentiments</a:t>
            </a:r>
          </a:p>
          <a:p>
            <a:pPr>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Generation </a:t>
            </a:r>
            <a:r>
              <a:rPr lang="en-US" sz="2000" dirty="0">
                <a:latin typeface="Times New Roman" panose="02020603050405020304" pitchFamily="18" charset="0"/>
                <a:cs typeface="Times New Roman" panose="02020603050405020304" pitchFamily="18" charset="0"/>
              </a:rPr>
              <a:t>of real-time sentiment analytics and </a:t>
            </a:r>
            <a:r>
              <a:rPr lang="en-US" sz="2000" dirty="0" smtClean="0">
                <a:latin typeface="Times New Roman" panose="02020603050405020304" pitchFamily="18" charset="0"/>
                <a:cs typeface="Times New Roman" panose="02020603050405020304" pitchFamily="18" charset="0"/>
              </a:rPr>
              <a:t>visualizations</a:t>
            </a:r>
          </a:p>
          <a:p>
            <a:pPr>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Accurate sentiment classification of tweets (positive, negative, neutral</a:t>
            </a:r>
            <a:r>
              <a:rPr lang="en-US" sz="20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Improved responsiveness to public opinion and reputation </a:t>
            </a:r>
            <a:r>
              <a:rPr lang="en-US" sz="2000" dirty="0" smtClean="0">
                <a:latin typeface="Times New Roman" panose="02020603050405020304" pitchFamily="18" charset="0"/>
                <a:cs typeface="Times New Roman" panose="02020603050405020304" pitchFamily="18" charset="0"/>
              </a:rPr>
              <a:t>management</a:t>
            </a:r>
          </a:p>
          <a:p>
            <a:pPr>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Insight into audience behavior and engagement patterns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360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E94C0-0A51-6C41-B1ED-E95AC84C23D7}"/>
              </a:ext>
            </a:extLst>
          </p:cNvPr>
          <p:cNvSpPr>
            <a:spLocks noGrp="1"/>
          </p:cNvSpPr>
          <p:nvPr>
            <p:ph type="title"/>
          </p:nvPr>
        </p:nvSpPr>
        <p:spPr/>
        <p:txBody>
          <a:bodyPr/>
          <a:lstStyle/>
          <a:p>
            <a:r>
              <a:rPr lang="en-US" b="1" dirty="0">
                <a:sym typeface="Bodoni SvtyTwo ITC TT-Book"/>
              </a:rPr>
              <a:t>Key Benefits &amp; Impact:</a:t>
            </a:r>
            <a:endParaRPr lang="en-US" b="1" dirty="0"/>
          </a:p>
        </p:txBody>
      </p:sp>
      <p:graphicFrame>
        <p:nvGraphicFramePr>
          <p:cNvPr id="5" name="Content Placeholder 2" descr="SmartArt Lined List graphic">
            <a:extLst>
              <a:ext uri="{FF2B5EF4-FFF2-40B4-BE49-F238E27FC236}">
                <a16:creationId xmlns:a16="http://schemas.microsoft.com/office/drawing/2014/main" id="{2A1099A9-7898-E54F-BE1A-0E468D8CEA8B}"/>
              </a:ext>
            </a:extLst>
          </p:cNvPr>
          <p:cNvGraphicFramePr>
            <a:graphicFrameLocks noGrp="1"/>
          </p:cNvGraphicFramePr>
          <p:nvPr>
            <p:ph sz="quarter" idx="13"/>
            <p:extLst>
              <p:ext uri="{D42A27DB-BD31-4B8C-83A1-F6EECF244321}">
                <p14:modId xmlns:p14="http://schemas.microsoft.com/office/powerpoint/2010/main" val="2229485428"/>
              </p:ext>
            </p:extLst>
          </p:nvPr>
        </p:nvGraphicFramePr>
        <p:xfrm>
          <a:off x="6016625" y="877888"/>
          <a:ext cx="5341938" cy="5251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79212" y="0"/>
            <a:ext cx="712788" cy="702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680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566" y="3186328"/>
            <a:ext cx="9520441" cy="1957172"/>
          </a:xfrm>
        </p:spPr>
        <p:txBody>
          <a:bodyPr>
            <a:noAutofit/>
          </a:bodyPr>
          <a:lstStyle/>
          <a:p>
            <a:pPr algn="l">
              <a:lnSpc>
                <a:spcPct val="150000"/>
              </a:lnSpc>
            </a:pPr>
            <a:r>
              <a:rPr lang="en-US" sz="1400" b="1" dirty="0">
                <a:latin typeface="Times New Roman" panose="02020603050405020304" pitchFamily="18" charset="0"/>
                <a:cs typeface="Times New Roman" panose="02020603050405020304" pitchFamily="18" charset="0"/>
              </a:rPr>
              <a:t>Conclusion</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Tweet Pulse dashboard successfully captures and visualizes real-time sentiment from Twitter, offering valuable insights into public opinion. By integrating Natural Language Processing with dynamic data visualization, the system empowers users—whether businesses, researchers, or policymakers—to make timely, data-driven decisions. It enhances engagement strategies, improves crisis response, and enables continuous tracking of audience sentiment.</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
            </a:r>
            <a:br>
              <a:rPr lang="en-US" sz="12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Future Scope</a:t>
            </a:r>
            <a:r>
              <a:rPr lang="en-US" sz="1200" b="1" dirty="0">
                <a:latin typeface="Times New Roman" panose="02020603050405020304" pitchFamily="18" charset="0"/>
                <a:cs typeface="Times New Roman" panose="02020603050405020304" pitchFamily="18" charset="0"/>
              </a:rPr>
              <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Multi-language Sentiment Analysis: Extend support to analyze tweets in multiple regional and international languages.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Emotion Detection: Go beyond sentiment to classify emotions like joy, anger, fear, etc</a:t>
            </a:r>
            <a:r>
              <a:rPr lang="en-US" sz="1200" dirty="0" smtClean="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Topic Modeling and Clustering: Group tweets by common themes using NLP techniques.</a:t>
            </a:r>
            <a:br>
              <a:rPr lang="en-US"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21"/>
          </p:nvPr>
        </p:nvSpPr>
        <p:spPr>
          <a:xfrm>
            <a:off x="3894499" y="1776817"/>
            <a:ext cx="4618576" cy="306959"/>
          </a:xfrm>
        </p:spPr>
        <p:txBody>
          <a:bodyPr/>
          <a:lstStyle/>
          <a:p>
            <a:r>
              <a:rPr lang="en-US" dirty="0" smtClean="0"/>
              <a:t>C o n c l u s I o n  &amp;&amp;  F U T U R E S C O P E </a:t>
            </a:r>
            <a:endParaRPr lang="en-IN" dirty="0"/>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921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R E F E R E N C E 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1400" b="1" dirty="0">
                <a:latin typeface="Times New Roman" panose="02020603050405020304" pitchFamily="18" charset="0"/>
                <a:cs typeface="Times New Roman" panose="02020603050405020304" pitchFamily="18" charset="0"/>
              </a:rPr>
              <a:t>Zhang, Y. &amp; Lin, J. (2023)</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Real-Time Sentiment Analysis of Twitter Data Using Transformer Models</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Demonstrated that transformer-based models (like BERT) outperform traditional methods in classifying tweet sentiments in real time.</a:t>
            </a:r>
          </a:p>
          <a:p>
            <a:r>
              <a:rPr lang="en-US" sz="1400" b="1" dirty="0">
                <a:latin typeface="Times New Roman" panose="02020603050405020304" pitchFamily="18" charset="0"/>
                <a:cs typeface="Times New Roman" panose="02020603050405020304" pitchFamily="18" charset="0"/>
              </a:rPr>
              <a:t>Ahmed, S. &amp; Kumar, V. (2024)</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TweetLens: A Real-Time Dashboard for Visualizing Twitter Sentiment Trends</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Proposed a live dashboard system that integrates tweet streaming, sentiment analysis, and interactive visualizations for trend monitoring</a:t>
            </a:r>
            <a:r>
              <a:rPr lang="en-US" sz="1400" dirty="0" smtClean="0">
                <a:latin typeface="Times New Roman" panose="02020603050405020304" pitchFamily="18" charset="0"/>
                <a:cs typeface="Times New Roman" panose="02020603050405020304" pitchFamily="18" charset="0"/>
              </a:rPr>
              <a:t>.</a:t>
            </a:r>
          </a:p>
          <a:p>
            <a:r>
              <a:rPr lang="en-US" sz="1400" b="1" dirty="0">
                <a:latin typeface="Times New Roman" panose="02020603050405020304" pitchFamily="18" charset="0"/>
                <a:cs typeface="Times New Roman" panose="02020603050405020304" pitchFamily="18" charset="0"/>
              </a:rPr>
              <a:t>Liu, F. &amp; Chen, X. (2023)</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Emotion-Aware Dashboards for Monitoring Social Media During Events</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Developed dashboards that go beyond sentiment to detect specific emotions, improving response strategies during live events or crises.</a:t>
            </a:r>
          </a:p>
          <a:p>
            <a:r>
              <a:rPr lang="en-US" sz="1400" b="1" dirty="0" smtClean="0">
                <a:latin typeface="Times New Roman" panose="02020603050405020304" pitchFamily="18" charset="0"/>
                <a:cs typeface="Times New Roman" panose="02020603050405020304" pitchFamily="18" charset="0"/>
              </a:rPr>
              <a:t>Khan</a:t>
            </a:r>
            <a:r>
              <a:rPr lang="en-US" sz="1400" b="1" dirty="0">
                <a:latin typeface="Times New Roman" panose="02020603050405020304" pitchFamily="18" charset="0"/>
                <a:cs typeface="Times New Roman" panose="02020603050405020304" pitchFamily="18" charset="0"/>
              </a:rPr>
              <a:t>, M. A. &amp; Rani, N. (2024)</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A Comparative Study of Sentiment Analysis Techniques for Twitter Data</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Compared machine learning and deep learning models, concluding that hybrid approaches yield higher precision in sentiment classification</a:t>
            </a:r>
            <a:r>
              <a:rPr lang="en-US" sz="1400" dirty="0" smtClean="0">
                <a:latin typeface="Times New Roman" panose="02020603050405020304" pitchFamily="18" charset="0"/>
                <a:cs typeface="Times New Roman" panose="02020603050405020304" pitchFamily="18" charset="0"/>
              </a:rPr>
              <a:t>.</a:t>
            </a:r>
          </a:p>
          <a:p>
            <a:r>
              <a:rPr lang="en-US" sz="1400" b="1" dirty="0">
                <a:latin typeface="Times New Roman" panose="02020603050405020304" pitchFamily="18" charset="0"/>
                <a:cs typeface="Times New Roman" panose="02020603050405020304" pitchFamily="18" charset="0"/>
              </a:rPr>
              <a:t>Patel, R. &amp; Mishra, D. (2025)</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Leveraging NLP and Deep Learning for Real-Time Social Media Monitoring</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Findings:</a:t>
            </a:r>
            <a:r>
              <a:rPr lang="en-US" sz="1400" dirty="0">
                <a:latin typeface="Times New Roman" panose="02020603050405020304" pitchFamily="18" charset="0"/>
                <a:cs typeface="Times New Roman" panose="02020603050405020304" pitchFamily="18" charset="0"/>
              </a:rPr>
              <a:t> Showed how deep learning techniques enhance the accuracy of sentiment classification and support real-time processing of social media data.</a:t>
            </a:r>
          </a:p>
          <a:p>
            <a:endParaRPr lang="en-US"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E6577A1-BF5B-4557-A3DB-C38C98907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96" y="55635"/>
            <a:ext cx="744065" cy="6465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FA4D53-C4ED-09BB-8C9A-DB7072EC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9216" y="46135"/>
            <a:ext cx="712788" cy="66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765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slidemodel.com/wp-content/uploads/30051-01-minimal-powerpoint-template-1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79847"/>
      </p:ext>
    </p:extLst>
  </p:cSld>
  <p:clrMapOvr>
    <a:masterClrMapping/>
  </p:clrMapOvr>
</p:sld>
</file>

<file path=ppt/theme/theme1.xml><?xml version="1.0" encoding="utf-8"?>
<a:theme xmlns:a="http://schemas.openxmlformats.org/drawingml/2006/main" name="DividendVTI">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inimalist_Light_Sales Pitch_01_Win32_AS_v4" id="{AE3810B2-EB50-490A-9B4E-9FA07A4550C3}" vid="{D5F0F717-C359-4A2D-BDB0-CA99CA6877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DC43B05-D266-4257-98DE-FF9D8CEDAE76}">
  <ds:schemaRef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16c05727-aa75-4e4a-9b5f-8a80a1165891"/>
    <ds:schemaRef ds:uri="71af3243-3dd4-4a8d-8c0d-dd76da1f02a5"/>
    <ds:schemaRef ds:uri="http://schemas.microsoft.com/office/2006/metadata/properties"/>
    <ds:schemaRef ds:uri="http://purl.org/dc/dcmitype/"/>
    <ds:schemaRef ds:uri="http://purl.org/dc/terms/"/>
    <ds:schemaRef ds:uri="http://purl.org/dc/elements/1.1/"/>
  </ds:schemaRefs>
</ds:datastoreItem>
</file>

<file path=customXml/itemProps2.xml><?xml version="1.0" encoding="utf-8"?>
<ds:datastoreItem xmlns:ds="http://schemas.openxmlformats.org/officeDocument/2006/customXml" ds:itemID="{D76AEDE5-E9AF-4E9F-97C3-19B848D35A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35A0B9-5F49-415F-9BEE-591FDACE98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Minimalist light sales pitch</Template>
  <TotalTime>0</TotalTime>
  <Words>845</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Bodoni SvtyTwo ITC TT-Book</vt:lpstr>
      <vt:lpstr>Calibri</vt:lpstr>
      <vt:lpstr>Garamond</vt:lpstr>
      <vt:lpstr>Helvetica Light</vt:lpstr>
      <vt:lpstr>Open Sans</vt:lpstr>
      <vt:lpstr>Times New Roman</vt:lpstr>
      <vt:lpstr>Wingdings</vt:lpstr>
      <vt:lpstr>Wingdings 2</vt:lpstr>
      <vt:lpstr>DividendVTI</vt:lpstr>
      <vt:lpstr>Tweet Pulse: Real-Time Sentiment Monitoring and Visualization Dashboard</vt:lpstr>
      <vt:lpstr>P R O B L E M   S T A T E M E N T</vt:lpstr>
      <vt:lpstr>A B S T R A C T</vt:lpstr>
      <vt:lpstr>O B J E C T I V E</vt:lpstr>
      <vt:lpstr>Module 1: Sentiment Classification</vt:lpstr>
      <vt:lpstr>Module 2: Live Twitter Stream Sentiment Monitoring </vt:lpstr>
      <vt:lpstr>Module 3: Topic Modeling and Sentiment Correlation</vt:lpstr>
      <vt:lpstr>Main packages using in tweet pulse</vt:lpstr>
      <vt:lpstr>E x p e c t e d o u t c o m e s</vt:lpstr>
      <vt:lpstr>Key Benefits &amp; Impact:</vt:lpstr>
      <vt:lpstr>Conclusion The Tweet Pulse dashboard successfully captures and visualizes real-time sentiment from Twitter, offering valuable insights into public opinion. By integrating Natural Language Processing with dynamic data visualization, the system empowers users—whether businesses, researchers, or policymakers—to make timely, data-driven decisions. It enhances engagement strategies, improves crisis response, and enables continuous tracking of audience sentiment.  Future Scope • Multi-language Sentiment Analysis: Extend support to analyze tweets in multiple regional and international languages. • Emotion Detection: Go beyond sentiment to classify emotions like joy, anger, fear, etc. • Topic Modeling and Clustering: Group tweets by common themes using NLP techniques. </vt:lpstr>
      <vt:lpstr>R E F E R E N C E 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2025-06-24T06:48:07Z</dcterms:created>
  <dcterms:modified xsi:type="dcterms:W3CDTF">2025-07-09T03:28:51Z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